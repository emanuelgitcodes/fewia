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74" r:id="rId3"/>
    <p:sldId id="277" r:id="rId4"/>
    <p:sldId id="278" r:id="rId5"/>
    <p:sldId id="279" r:id="rId6"/>
    <p:sldId id="27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3CBF99-4161-4779-A527-B6F52069494A}" v="52" dt="2026-08-25T09:54:43.3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316CC6-6DF4-42ED-92C2-FF2E9657FA7A}" type="datetimeFigureOut">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1417A8-D1DE-47EB-BDC7-50106A59BC4C}" type="slidenum">
              <a:t>‹#›</a:t>
            </a:fld>
            <a:endParaRPr lang="en-US"/>
          </a:p>
        </p:txBody>
      </p:sp>
    </p:spTree>
    <p:extLst>
      <p:ext uri="{BB962C8B-B14F-4D97-AF65-F5344CB8AC3E}">
        <p14:creationId xmlns:p14="http://schemas.microsoft.com/office/powerpoint/2010/main" val="480610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 minutes</a:t>
            </a:r>
          </a:p>
          <a:p>
            <a:endParaRPr/>
          </a:p>
          <a:p>
            <a:r>
              <a:t>TALK TRACK</a:t>
            </a:r>
          </a:p>
          <a:p>
            <a:r>
              <a:t>Introduce the course as a systems class. The central object is not an isolated model; it is the complete path from stored knowledge to useful behavior.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4 minutes</a:t>
            </a:r>
          </a:p>
          <a:p>
            <a:endParaRPr/>
          </a:p>
          <a:p>
            <a:r>
              <a:t>TALK TRACK</a:t>
            </a:r>
          </a:p>
          <a:p>
            <a:r>
              <a:t>Review the three grading categories. Do not introduce specific homework topics. The displayed late policy applies to homework and the project; no separate presentation late policy is specified. The fourth row is the late-work penalty, not a graded component. Assignment topics are also announced separately. The reduction is 20 percentage points for each calendar day late.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 minutes</a:t>
            </a:r>
          </a:p>
          <a:p>
            <a:endParaRPr/>
          </a:p>
          <a:p>
            <a:r>
              <a:t>TALK TRACK</a:t>
            </a:r>
          </a:p>
          <a:p>
            <a:r>
              <a:t>Explain the distinction between a research claim and a system artifact. A polished demo alone is insufficient; both tracks require implementation and evaluation. The instructor approves the topic at the proposal meeting. Changing one variable at a time is what allows the difference to be attributed. An ablation removes one component at a time to show what each contributes; the alternative is an analysis of the cases the method gets wrong.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9CC34-4B69-41DB-B9CA-1CD852441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09355-3B56-0F4C-67AF-8F92CA9BE87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30B868B-EFDB-2A31-2C27-0B7B6FD3C7E4}"/>
              </a:ext>
            </a:extLst>
          </p:cNvPr>
          <p:cNvSpPr>
            <a:spLocks noGrp="1"/>
          </p:cNvSpPr>
          <p:nvPr>
            <p:ph type="body" sz="quarter" idx="3"/>
          </p:nvPr>
        </p:nvSpPr>
        <p:spPr/>
        <p:txBody>
          <a:bodyPr/>
          <a:lstStyle/>
          <a:p>
            <a:r>
              <a:t>TIMING: 5 minutes</a:t>
            </a:r>
          </a:p>
          <a:p>
            <a:endParaRPr/>
          </a:p>
          <a:p>
            <a:r>
              <a:t>TALK TRACK</a:t>
            </a:r>
          </a:p>
          <a:p>
            <a:r>
              <a:t>Explain the distinction between a research claim and a system artifact. A polished demo alone is insufficient; both tracks require implementation and evaluation. The instructor approves the topic at the proposal meeting. Changing one variable at a time is what allows the difference to be attributed. An ablation removes one component at a time to show what each contributes; the alternative is an analysis of the cases the method gets wrong.</a:t>
            </a:r>
          </a:p>
        </p:txBody>
      </p:sp>
      <p:sp>
        <p:nvSpPr>
          <p:cNvPr id="4" name="Slide Number Placeholder 3">
            <a:extLst>
              <a:ext uri="{FF2B5EF4-FFF2-40B4-BE49-F238E27FC236}">
                <a16:creationId xmlns:a16="http://schemas.microsoft.com/office/drawing/2014/main" id="{D5703503-2A0C-0C77-58ED-1153DD7CF3BC}"/>
              </a:ext>
            </a:extLst>
          </p:cNvPr>
          <p:cNvSpPr>
            <a:spLocks noGrp="1"/>
          </p:cNvSpPr>
          <p:nvPr>
            <p:ph type="sldNum" sz="quarter" idx="5"/>
          </p:nvPr>
        </p:nvSpPr>
        <p:spPr/>
      </p:sp>
    </p:spTree>
    <p:extLst>
      <p:ext uri="{BB962C8B-B14F-4D97-AF65-F5344CB8AC3E}">
        <p14:creationId xmlns:p14="http://schemas.microsoft.com/office/powerpoint/2010/main" val="187295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8EFF3-9BA7-CF5C-FD30-77CD3AE14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37742-8015-841F-9DF7-2E8B3CDE0ED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A29D206-F30D-B574-7A3C-C8BD65BD6998}"/>
              </a:ext>
            </a:extLst>
          </p:cNvPr>
          <p:cNvSpPr>
            <a:spLocks noGrp="1"/>
          </p:cNvSpPr>
          <p:nvPr>
            <p:ph type="body" sz="quarter" idx="3"/>
          </p:nvPr>
        </p:nvSpPr>
        <p:spPr/>
        <p:txBody>
          <a:bodyPr/>
          <a:lstStyle/>
          <a:p>
            <a:r>
              <a:t>TIMING: 4 minutes</a:t>
            </a:r>
          </a:p>
          <a:p>
            <a:endParaRPr/>
          </a:p>
          <a:p>
            <a:r>
              <a:t>TALK TRACK</a:t>
            </a:r>
          </a:p>
          <a:p>
            <a:r>
              <a:t>Review the three grading categories. Do not introduce specific homework topics. The displayed late policy applies to homework and the project; no separate presentation late policy is specified. The fourth row is the late-work penalty, not a graded component. Assignment topics are also announced separately. The reduction is 20 percentage points for each calendar day late.</a:t>
            </a:r>
          </a:p>
        </p:txBody>
      </p:sp>
      <p:sp>
        <p:nvSpPr>
          <p:cNvPr id="4" name="Slide Number Placeholder 3">
            <a:extLst>
              <a:ext uri="{FF2B5EF4-FFF2-40B4-BE49-F238E27FC236}">
                <a16:creationId xmlns:a16="http://schemas.microsoft.com/office/drawing/2014/main" id="{DCB62DD4-25DB-D3A5-1646-9350AA18A7AB}"/>
              </a:ext>
            </a:extLst>
          </p:cNvPr>
          <p:cNvSpPr>
            <a:spLocks noGrp="1"/>
          </p:cNvSpPr>
          <p:nvPr>
            <p:ph type="sldNum" sz="quarter" idx="5"/>
          </p:nvPr>
        </p:nvSpPr>
        <p:spPr/>
      </p:sp>
    </p:spTree>
    <p:extLst>
      <p:ext uri="{BB962C8B-B14F-4D97-AF65-F5344CB8AC3E}">
        <p14:creationId xmlns:p14="http://schemas.microsoft.com/office/powerpoint/2010/main" val="4244491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2 minutes</a:t>
            </a:r>
          </a:p>
          <a:p>
            <a:endParaRPr/>
          </a:p>
          <a:p>
            <a:r>
              <a:t>TALK TRACK</a:t>
            </a:r>
          </a:p>
          <a:p>
            <a:r>
              <a:t>Preview the lecture in four parts. Emphasize that the topic survey follows one shared system lifecycle rather than a sequence of unrelated papers.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4 minutes</a:t>
            </a:r>
          </a:p>
          <a:p>
            <a:endParaRPr/>
          </a:p>
          <a:p>
            <a:r>
              <a:t>TALK TRACK</a:t>
            </a:r>
          </a:p>
          <a:p>
            <a:r>
              <a:t>Use familiar deployed products as the motivation. The course studies the representations, access mechanisms, reasoning, ranking, actions, and feedback that make those products work. The deployed cases: research assistants, customer support, enterprise search, domain-specific question answering. The answer is written from the retrieved documents. Codex is a model that edits and runs code inside a user's repository. It combines what the model learned in training with the repository's files, developer tools, code execution, and test results. These are recommendation systems: they select and rank posts. The same three parts also underlie search, commerce, media, scientific tools, and automated workflows.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3 minutes</a:t>
            </a:r>
          </a:p>
          <a:p>
            <a:endParaRPr/>
          </a:p>
          <a:p>
            <a:r>
              <a:t>TALK TRACK</a:t>
            </a:r>
          </a:p>
          <a:p>
            <a:r>
              <a:t>Read each row left to right. Every product has stores, an access mechanism, an output, and feedback that changes later behavior.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3 minutes</a:t>
            </a:r>
          </a:p>
          <a:p>
            <a:endParaRPr/>
          </a:p>
          <a:p>
            <a:r>
              <a:t>TALK TRACK</a:t>
            </a:r>
          </a:p>
          <a:p>
            <a:r>
              <a:t>Define the course object operationally. A representation counts as useful knowledge when the system can access it and it reliably changes prediction, ranking, generation, or action. Parametric knowledge is absorbed into the weights during training. External stores are queried at run time. Structured stores are organized by a fixed schema.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 minutes</a:t>
            </a:r>
          </a:p>
          <a:p>
            <a:endParaRPr/>
          </a:p>
          <a:p>
            <a:r>
              <a:t>TALK TRACK</a:t>
            </a:r>
          </a:p>
          <a:p>
            <a:r>
              <a:t>Contrast parametric and external knowledge without presenting them as exclusive choices. Structured graphs and rules can live outside the model while learned representations can support access to them. The patterns are statistical patterns in the training data; the skills are learned from that same data. An embedding is the fixed-length vector a model produces for an input; its geometry reflects the task the encoder was trained on. Reading parametric knowledge needs only one forward pass. Changing one fact without disturbing the others is difficult. These stores sit outside the model, so any single item can be looked up on its own. A single record can be corrected on its own. Each retrieved item can carry the source it came from and the date it was written. The failure modes are ignoring the returned evidence or misusing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3 minutes</a:t>
            </a:r>
          </a:p>
          <a:p>
            <a:endParaRPr/>
          </a:p>
          <a:p>
            <a:r>
              <a:t>TALK TRACK</a:t>
            </a:r>
          </a:p>
          <a:p>
            <a:r>
              <a:t>Use the lifecycle as the organizing logic for the course. Failures can originate at any stage and propagate downstream. Indexes cover structured stores too: SQL tables and fact databases queried by logical rules. Access means retrieving documents, querying a database, or running the model so its own parameters supply the answer.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t>
            </a:r>
            <a:r>
              <a:rPr lang="en-US"/>
              <a:t>5</a:t>
            </a:r>
            <a:r>
              <a:t> minutes</a:t>
            </a:r>
          </a:p>
          <a:p>
            <a:endParaRPr/>
          </a:p>
          <a:p>
            <a:r>
              <a:t>TALK TRACK</a:t>
            </a:r>
          </a:p>
          <a:p>
            <a:r>
              <a:t>Read the method column so students can see what each block will actually teach. The order is deliberate: representations first, then access and reasoning, then the systems that rank, act, and update.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t>
            </a:r>
            <a:r>
              <a:rPr lang="en-US"/>
              <a:t>5</a:t>
            </a:r>
            <a:r>
              <a:t> minutes</a:t>
            </a:r>
          </a:p>
          <a:p>
            <a:endParaRPr/>
          </a:p>
          <a:p>
            <a:r>
              <a:t>TALK TRACK</a:t>
            </a:r>
          </a:p>
          <a:p>
            <a:r>
              <a:t>Introduce Dense Knowledge Representation through its role in the end-to-end knowledge lifecycle. Cover the listed ideas at preview depth and connect them to the applications. Intended learning result: Select an encoder and evaluate quality, latency, memory, and failure modes.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4.5 minutes</a:t>
            </a:r>
          </a:p>
          <a:p>
            <a:endParaRPr/>
          </a:p>
          <a:p>
            <a:r>
              <a:t>TALK TRACK</a:t>
            </a:r>
          </a:p>
          <a:p>
            <a:r>
              <a:t>Introduce Knowledge Graphs and KG Learning through its role in the end-to-end knowledge lifecycle. Cover the listed ideas at preview depth and connect them to the applications. Intended learning result: Compare expressiveness, generalization, and the interpretability of grounding paths.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4.5 minutes</a:t>
            </a:r>
          </a:p>
          <a:p>
            <a:endParaRPr/>
          </a:p>
          <a:p>
            <a:r>
              <a:t>TALK TRACK</a:t>
            </a:r>
          </a:p>
          <a:p>
            <a:r>
              <a:t>Introduce Symbolic and Neuro-Symbolic Reasoning through its role in the end-to-end knowledge lifecycle. Cover the listed ideas at preview depth and connect them to the applications. Intended learning result: Choose among exact, probabilistic, and differentiable reasoning for a task.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4.5 minutes</a:t>
            </a:r>
          </a:p>
          <a:p>
            <a:endParaRPr/>
          </a:p>
          <a:p>
            <a:r>
              <a:t>TALK TRACK</a:t>
            </a:r>
          </a:p>
          <a:p>
            <a:r>
              <a:t>Introduce Retrieval and Post-Retrieval through its role in the end-to-end knowledge lifecycle. Cover the listed ideas at preview depth and connect them to the applications. Intended learning result: Measure recall, precision, latency, memory, and index cost as one operating point.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4.5 minutes</a:t>
            </a:r>
          </a:p>
          <a:p>
            <a:endParaRPr/>
          </a:p>
          <a:p>
            <a:r>
              <a:t>TALK TRACK</a:t>
            </a:r>
          </a:p>
          <a:p>
            <a:r>
              <a:t>Introduce Retrieval-Augmented Generation through its role in the end-to-end knowledge lifecycle. Cover the listed ideas at preview depth and connect them to the applications. Intended learning result: Separate retrieval failure from generation and evidence-use failure.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t>
            </a:r>
            <a:r>
              <a:rPr lang="en-US"/>
              <a:t>5</a:t>
            </a:r>
            <a:r>
              <a:t> minutes</a:t>
            </a:r>
          </a:p>
          <a:p>
            <a:endParaRPr/>
          </a:p>
          <a:p>
            <a:r>
              <a:t>TALK TRACK</a:t>
            </a:r>
          </a:p>
          <a:p>
            <a:r>
              <a:t>Introduce Recommendation Systems through its role in the end-to-end knowledge lifecycle. Cover the listed ideas at preview depth and connect them to the applications. Intended learning result: Evaluate ranking quality with exposure bias, feedback loops, and systems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t>
            </a:r>
            <a:r>
              <a:rPr lang="en-US"/>
              <a:t>5.5 </a:t>
            </a:r>
            <a:r>
              <a:t>minutes</a:t>
            </a:r>
          </a:p>
          <a:p>
            <a:endParaRPr/>
          </a:p>
          <a:p>
            <a:r>
              <a:t>TALK TRACK</a:t>
            </a:r>
          </a:p>
          <a:p>
            <a:r>
              <a:t>Introduce AI Agents through its role in the end-to-end knowledge lifecycle. Cover the listed ideas at preview depth and connect them to the applications. Intended learning result: Inspect tool choice, arguments, state transitions</a:t>
            </a:r>
            <a:r>
              <a:rPr lang="en-US"/>
              <a:t>, memory reads and writes</a:t>
            </a:r>
            <a:r>
              <a:t>, recovery, cost, and outcomes.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4.5 minutes</a:t>
            </a:r>
          </a:p>
          <a:p>
            <a:endParaRPr/>
          </a:p>
          <a:p>
            <a:r>
              <a:t>TALK TRACK</a:t>
            </a:r>
          </a:p>
          <a:p>
            <a:r>
              <a:t>Introduce Knowledge Updating through its role in the end-to-end knowledge lifecycle. Cover the listed ideas at preview depth and connect them to the applications. Intended learning result: Update a deployed model safely, and measure that the change generalized without collateral damage.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 minutes</a:t>
            </a:r>
          </a:p>
          <a:p>
            <a:endParaRPr/>
          </a:p>
          <a:p>
            <a:r>
              <a:t>TALK TRACK</a:t>
            </a:r>
          </a:p>
          <a:p>
            <a:r>
              <a:rPr lang="en-US"/>
              <a:t>Review the three grading categories. One homework is named here because it is unlike the others: a short literature review report, a written survey of </a:t>
            </a:r>
            <a:r>
              <a:t>one </a:t>
            </a:r>
            <a:r>
              <a:rPr lang="en-US"/>
              <a:t>subarea covering what has been tried, what is settled and what is still open. Announce the remaining four topics separately</a:t>
            </a:r>
            <a:r>
              <a:t>. The </a:t>
            </a:r>
            <a:r>
              <a:rPr lang="en-US"/>
              <a:t>displayed late policy applies to homework and the project; no separate presentation late policy </a:t>
            </a:r>
            <a:r>
              <a:t>is </a:t>
            </a:r>
            <a:r>
              <a:rPr lang="en-US"/>
              <a:t>specified</a:t>
            </a:r>
            <a:r>
              <a:t>. The </a:t>
            </a:r>
            <a:r>
              <a:rPr lang="en-US"/>
              <a:t>fourth row is the late-work penalty, not </a:t>
            </a:r>
            <a:r>
              <a:t>a </a:t>
            </a:r>
            <a:r>
              <a:rPr lang="en-US"/>
              <a:t>graded component. Assignment topics are also announced separately</a:t>
            </a:r>
            <a:r>
              <a:t>. The </a:t>
            </a:r>
            <a:r>
              <a:rPr lang="en-US"/>
              <a:t>reduction </a:t>
            </a:r>
            <a:r>
              <a:t>is </a:t>
            </a:r>
            <a:r>
              <a:rPr lang="en-US"/>
              <a:t>20 percentage points for each calendar day late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t>
            </a:r>
            <a:r>
              <a:rPr lang="en-US"/>
              <a:t>6 </a:t>
            </a:r>
            <a:r>
              <a:t>minutes</a:t>
            </a:r>
          </a:p>
          <a:p>
            <a:endParaRPr/>
          </a:p>
          <a:p>
            <a:r>
              <a:t>TALK TRACK</a:t>
            </a:r>
          </a:p>
          <a:p>
            <a:r>
              <a:rPr lang="en-US"/>
              <a:t>Explain </a:t>
            </a:r>
            <a:r>
              <a:t>the </a:t>
            </a:r>
            <a:r>
              <a:rPr lang="en-US"/>
              <a:t>distinction between a research claim and a system artifact</a:t>
            </a:r>
            <a:r>
              <a:t>. </a:t>
            </a:r>
            <a:r>
              <a:rPr lang="en-US"/>
              <a:t>A polished demo alone is insufficient; both tracks require implementation and evaluation</a:t>
            </a:r>
            <a:r>
              <a:t>. The </a:t>
            </a:r>
            <a:r>
              <a:rPr lang="en-US"/>
              <a:t>instructor approves the topic at </a:t>
            </a:r>
            <a:r>
              <a:t>the </a:t>
            </a:r>
            <a:r>
              <a:rPr lang="en-US"/>
              <a:t>proposal meeting</a:t>
            </a:r>
            <a:r>
              <a:t>. </a:t>
            </a:r>
            <a:r>
              <a:rPr lang="en-US"/>
              <a:t>Changing one variable at a time </a:t>
            </a:r>
            <a:r>
              <a:t>is </a:t>
            </a:r>
            <a:r>
              <a:rPr lang="en-US"/>
              <a:t>what allows </a:t>
            </a:r>
            <a:r>
              <a:t>the </a:t>
            </a:r>
            <a:r>
              <a:rPr lang="en-US"/>
              <a:t>difference to be attributed</a:t>
            </a:r>
            <a:r>
              <a:t>. </a:t>
            </a:r>
            <a:r>
              <a:rPr lang="en-US"/>
              <a:t>An ablation removes one component at a time to show what </a:t>
            </a:r>
            <a:r>
              <a:t>each </a:t>
            </a:r>
            <a:r>
              <a:rPr lang="en-US"/>
              <a:t>contributes; the alternative is an analysis of the cases the method gets wrong</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D3F5D-1EA7-7450-7831-17672CAC1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D5AD0-A713-9BBD-1894-1DD2F4D423C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B783D00-D90A-45DA-99C5-A2D30E497E38}"/>
              </a:ext>
            </a:extLst>
          </p:cNvPr>
          <p:cNvSpPr>
            <a:spLocks noGrp="1"/>
          </p:cNvSpPr>
          <p:nvPr>
            <p:ph type="body" sz="quarter" idx="3"/>
          </p:nvPr>
        </p:nvSpPr>
        <p:spPr/>
        <p:txBody>
          <a:bodyPr/>
          <a:lstStyle/>
          <a:p>
            <a:r>
              <a:t>TIMING: 5 minutes</a:t>
            </a:r>
          </a:p>
          <a:p>
            <a:endParaRPr/>
          </a:p>
          <a:p>
            <a:r>
              <a:t>TALK TRACK</a:t>
            </a:r>
          </a:p>
          <a:p>
            <a:r>
              <a:t>Walk through one complete system. The point is not that every project needs all eight topics, but that system behavior depends on interfaces among them. The assistant answers questions about a research literature. The same applies when a paper is superseded rather than retracted.</a:t>
            </a:r>
          </a:p>
        </p:txBody>
      </p:sp>
      <p:sp>
        <p:nvSpPr>
          <p:cNvPr id="4" name="Slide Number Placeholder 3">
            <a:extLst>
              <a:ext uri="{FF2B5EF4-FFF2-40B4-BE49-F238E27FC236}">
                <a16:creationId xmlns:a16="http://schemas.microsoft.com/office/drawing/2014/main" id="{5D28F4E3-6B7A-F30D-6B7F-ACEC5359E57F}"/>
              </a:ext>
            </a:extLst>
          </p:cNvPr>
          <p:cNvSpPr>
            <a:spLocks noGrp="1"/>
          </p:cNvSpPr>
          <p:nvPr>
            <p:ph type="sldNum" sz="quarter" idx="5"/>
          </p:nvPr>
        </p:nvSpPr>
        <p:spPr/>
      </p:sp>
    </p:spTree>
    <p:extLst>
      <p:ext uri="{BB962C8B-B14F-4D97-AF65-F5344CB8AC3E}">
        <p14:creationId xmlns:p14="http://schemas.microsoft.com/office/powerpoint/2010/main" val="1453114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overleaf.com/latex/templates/cvpr-2026-submission-template/rdtrwgypxxzb"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docs.google.com/spreadsheets/d/1i1DS1TGPymv9cMJrRQznfzE8yFBghV8SGf7nfkR3Qw4/edit?usp=sharing"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0" y="0"/>
            <a:ext cx="274320" cy="685800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1188720" y="1975104"/>
            <a:ext cx="8229600" cy="182880"/>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50" b="1" i="0" spc="90">
                <a:solidFill>
                  <a:srgbClr val="EB6834"/>
                </a:solidFill>
                <a:latin typeface="Helvetica Neue"/>
              </a:rPr>
              <a:t>CAP 6938  ·  AI KNOWLEDGE SYSTEMS</a:t>
            </a:r>
          </a:p>
        </p:txBody>
      </p:sp>
      <p:sp>
        <p:nvSpPr>
          <p:cNvPr id="4" name="TextBox 3"/>
          <p:cNvSpPr txBox="1"/>
          <p:nvPr/>
        </p:nvSpPr>
        <p:spPr>
          <a:xfrm>
            <a:off x="1188720" y="2432304"/>
            <a:ext cx="9509760" cy="678584"/>
          </a:xfrm>
          <a:prstGeom prst="rect">
            <a:avLst/>
          </a:prstGeom>
          <a:noFill/>
        </p:spPr>
        <p:txBody>
          <a:bodyPr wrap="square" lIns="18288" tIns="18288" rIns="18288" bIns="18288" anchor="t">
            <a:spAutoFit/>
          </a:bodyPr>
          <a:lstStyle/>
          <a:p>
            <a:pPr algn="l">
              <a:lnSpc>
                <a:spcPct val="104000"/>
              </a:lnSpc>
              <a:spcBef>
                <a:spcPts val="0"/>
              </a:spcBef>
              <a:spcAft>
                <a:spcPts val="0"/>
              </a:spcAft>
            </a:pPr>
            <a:r>
              <a:rPr lang="en-US" sz="4300" b="1" i="0">
                <a:solidFill>
                  <a:srgbClr val="20232A"/>
                </a:solidFill>
                <a:latin typeface="Helvetica Neue"/>
              </a:rPr>
              <a:t>AI Knowledge Systems</a:t>
            </a:r>
          </a:p>
        </p:txBody>
      </p:sp>
      <p:sp>
        <p:nvSpPr>
          <p:cNvPr id="5" name="Rectangle 4"/>
          <p:cNvSpPr/>
          <p:nvPr/>
        </p:nvSpPr>
        <p:spPr>
          <a:xfrm>
            <a:off x="1188720" y="3931920"/>
            <a:ext cx="1005840"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4206240"/>
            <a:ext cx="7863840" cy="297582"/>
          </a:xfrm>
          <a:prstGeom prst="rect">
            <a:avLst/>
          </a:prstGeom>
          <a:noFill/>
        </p:spPr>
        <p:txBody>
          <a:bodyPr wrap="square" lIns="18288" tIns="18288" rIns="18288" bIns="18288" anchor="t">
            <a:spAutoFit/>
          </a:bodyPr>
          <a:lstStyle/>
          <a:p>
            <a:pPr algn="l">
              <a:lnSpc>
                <a:spcPct val="142000"/>
              </a:lnSpc>
              <a:spcBef>
                <a:spcPts val="0"/>
              </a:spcBef>
              <a:spcAft>
                <a:spcPts val="0"/>
              </a:spcAft>
            </a:pPr>
            <a:r>
              <a:rPr lang="en-US" sz="1350" b="0" i="0">
                <a:solidFill>
                  <a:srgbClr val="535A67"/>
                </a:solidFill>
                <a:latin typeface="Helvetica Neue"/>
              </a:rPr>
              <a:t>Why modern AI needs representations, retrieval, reasoning, memory, tools, and feedback</a:t>
            </a:r>
          </a:p>
        </p:txBody>
      </p:sp>
      <p:sp>
        <p:nvSpPr>
          <p:cNvPr id="7" name="TextBox 6"/>
          <p:cNvSpPr txBox="1"/>
          <p:nvPr/>
        </p:nvSpPr>
        <p:spPr>
          <a:xfrm>
            <a:off x="1188720" y="5138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LECTURE 01  |  COURSE INTRODUCTION</a:t>
            </a:r>
          </a:p>
        </p:txBody>
      </p:sp>
      <p:sp>
        <p:nvSpPr>
          <p:cNvPr id="8" name="TextBox 7"/>
          <p:cNvSpPr txBox="1"/>
          <p:nvPr/>
        </p:nvSpPr>
        <p:spPr>
          <a:xfrm>
            <a:off x="1188720" y="5449824"/>
            <a:ext cx="4206240" cy="213905"/>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1150" b="0" i="0">
                <a:solidFill>
                  <a:srgbClr val="20232A"/>
                </a:solidFill>
                <a:latin typeface="Helvetica Neue"/>
              </a:rPr>
              <a:t>Tuesday, August 25, 2026</a:t>
            </a:r>
          </a:p>
        </p:txBody>
      </p:sp>
      <p:sp>
        <p:nvSpPr>
          <p:cNvPr id="9" name="TextBox 8"/>
          <p:cNvSpPr txBox="1"/>
          <p:nvPr/>
        </p:nvSpPr>
        <p:spPr>
          <a:xfrm>
            <a:off x="1188720" y="5724144"/>
            <a:ext cx="3108960" cy="198516"/>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1050" b="0" i="0">
                <a:solidFill>
                  <a:srgbClr val="535A67"/>
                </a:solidFill>
                <a:latin typeface="Helvetica Neue"/>
              </a:rPr>
              <a:t>Ser Nam Lim</a:t>
            </a:r>
          </a:p>
        </p:txBody>
      </p:sp>
      <p:sp>
        <p:nvSpPr>
          <p:cNvPr id="10" name="TextBox 9"/>
          <p:cNvSpPr txBox="1"/>
          <p:nvPr/>
        </p:nvSpPr>
        <p:spPr>
          <a:xfrm>
            <a:off x="1188720" y="6272784"/>
            <a:ext cx="8229600" cy="182880"/>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950" b="1" i="0" spc="90">
                <a:solidFill>
                  <a:srgbClr val="7C828C"/>
                </a:solidFill>
                <a:latin typeface="Helvetica Neue"/>
              </a:rPr>
              <a:t>University of Central Florida  ·  Fall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475488"/>
            <a:ext cx="5486400" cy="201168"/>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900" b="1" i="0" spc="90">
                <a:solidFill>
                  <a:srgbClr val="33526B"/>
                </a:solidFill>
                <a:latin typeface="Arial"/>
              </a:rPr>
              <a:t>LOGISTICS</a:t>
            </a:r>
          </a:p>
        </p:txBody>
      </p:sp>
      <p:sp>
        <p:nvSpPr>
          <p:cNvPr id="3" name="TextBox 2"/>
          <p:cNvSpPr txBox="1"/>
          <p:nvPr/>
        </p:nvSpPr>
        <p:spPr>
          <a:xfrm>
            <a:off x="804672" y="731520"/>
            <a:ext cx="10545775" cy="530352"/>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3000" b="1" i="0">
                <a:solidFill>
                  <a:srgbClr val="111111"/>
                </a:solidFill>
                <a:latin typeface="Arial"/>
              </a:rPr>
              <a:t>Grading and deadlines</a:t>
            </a:r>
          </a:p>
        </p:txBody>
      </p:sp>
      <p:sp>
        <p:nvSpPr>
          <p:cNvPr id="4" name="TextBox 3"/>
          <p:cNvSpPr txBox="1"/>
          <p:nvPr/>
        </p:nvSpPr>
        <p:spPr>
          <a:xfrm>
            <a:off x="822960" y="1316736"/>
            <a:ext cx="10180015" cy="253491"/>
          </a:xfrm>
          <a:prstGeom prst="rect">
            <a:avLst/>
          </a:prstGeom>
          <a:noFill/>
        </p:spPr>
        <p:txBody>
          <a:bodyPr wrap="square" lIns="18288" tIns="18288" rIns="18288" bIns="18288" anchor="t">
            <a:spAutoFit/>
          </a:bodyPr>
          <a:lstStyle/>
          <a:p>
            <a:pPr algn="l">
              <a:lnSpc>
                <a:spcPct val="110000"/>
              </a:lnSpc>
              <a:spcBef>
                <a:spcPts val="0"/>
              </a:spcBef>
              <a:spcAft>
                <a:spcPts val="0"/>
              </a:spcAft>
            </a:pPr>
            <a:r>
              <a:rPr sz="1400" b="0" i="0">
                <a:solidFill>
                  <a:srgbClr val="6B6B6B"/>
                </a:solidFill>
                <a:latin typeface="Arial"/>
              </a:rPr>
              <a:t>Three graded components sum to 100 percent.</a:t>
            </a:r>
          </a:p>
        </p:txBody>
      </p:sp>
      <p:sp>
        <p:nvSpPr>
          <p:cNvPr id="5" name="Rectangle 4"/>
          <p:cNvSpPr/>
          <p:nvPr/>
        </p:nvSpPr>
        <p:spPr>
          <a:xfrm>
            <a:off x="822960" y="6382512"/>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6455664"/>
            <a:ext cx="4572000" cy="182880"/>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850" b="0" i="0">
                <a:solidFill>
                  <a:srgbClr val="9B9B9B"/>
                </a:solidFill>
                <a:latin typeface="Arial"/>
              </a:rPr>
              <a:t>CAP 6938  ·  AI Knowledge Systems</a:t>
            </a:r>
          </a:p>
        </p:txBody>
      </p:sp>
      <p:sp>
        <p:nvSpPr>
          <p:cNvPr id="7" name="TextBox 6"/>
          <p:cNvSpPr txBox="1"/>
          <p:nvPr/>
        </p:nvSpPr>
        <p:spPr>
          <a:xfrm>
            <a:off x="7711135" y="6455664"/>
            <a:ext cx="3657600" cy="182880"/>
          </a:xfrm>
          <a:prstGeom prst="rect">
            <a:avLst/>
          </a:prstGeom>
          <a:noFill/>
        </p:spPr>
        <p:txBody>
          <a:bodyPr wrap="square" lIns="18288" tIns="18288" rIns="18288" bIns="18288" anchor="t">
            <a:spAutoFit/>
          </a:bodyPr>
          <a:lstStyle/>
          <a:p>
            <a:pPr algn="r">
              <a:lnSpc>
                <a:spcPct val="100000"/>
              </a:lnSpc>
              <a:spcBef>
                <a:spcPts val="0"/>
              </a:spcBef>
              <a:spcAft>
                <a:spcPts val="0"/>
              </a:spcAft>
            </a:pPr>
            <a:r>
              <a:rPr sz="850" b="0" i="0">
                <a:solidFill>
                  <a:srgbClr val="9B9B9B"/>
                </a:solidFill>
                <a:latin typeface="Arial"/>
              </a:rPr>
              <a:t>Lecture 01  ·  18</a:t>
            </a:r>
          </a:p>
        </p:txBody>
      </p:sp>
      <p:sp>
        <p:nvSpPr>
          <p:cNvPr id="8" name="Rectangle 7"/>
          <p:cNvSpPr/>
          <p:nvPr/>
        </p:nvSpPr>
        <p:spPr>
          <a:xfrm>
            <a:off x="822960" y="1956815"/>
            <a:ext cx="10545775" cy="16459"/>
          </a:xfrm>
          <a:prstGeom prst="rect">
            <a:avLst/>
          </a:prstGeom>
          <a:solidFill>
            <a:srgbClr val="335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75687"/>
            <a:ext cx="2602001" cy="283464"/>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950" b="1" i="0" spc="90">
                <a:solidFill>
                  <a:srgbClr val="111111"/>
                </a:solidFill>
                <a:latin typeface="Arial"/>
              </a:rPr>
              <a:t>COMPONENT</a:t>
            </a:r>
          </a:p>
        </p:txBody>
      </p:sp>
      <p:sp>
        <p:nvSpPr>
          <p:cNvPr id="10" name="TextBox 9"/>
          <p:cNvSpPr txBox="1"/>
          <p:nvPr/>
        </p:nvSpPr>
        <p:spPr>
          <a:xfrm>
            <a:off x="3644417" y="2075687"/>
            <a:ext cx="1815693" cy="283464"/>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950" b="1" i="0" spc="90">
                <a:solidFill>
                  <a:srgbClr val="111111"/>
                </a:solidFill>
                <a:latin typeface="Arial"/>
              </a:rPr>
              <a:t>WEIGHT</a:t>
            </a:r>
          </a:p>
        </p:txBody>
      </p:sp>
      <p:sp>
        <p:nvSpPr>
          <p:cNvPr id="11" name="TextBox 10"/>
          <p:cNvSpPr txBox="1"/>
          <p:nvPr/>
        </p:nvSpPr>
        <p:spPr>
          <a:xfrm>
            <a:off x="5679567" y="2075687"/>
            <a:ext cx="5469712" cy="283464"/>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950" b="1" i="0" spc="90">
                <a:solidFill>
                  <a:srgbClr val="111111"/>
                </a:solidFill>
                <a:latin typeface="Arial"/>
              </a:rPr>
              <a:t>POLICY / SCOPE</a:t>
            </a:r>
          </a:p>
        </p:txBody>
      </p:sp>
      <p:sp>
        <p:nvSpPr>
          <p:cNvPr id="12" name="Rectangle 11"/>
          <p:cNvSpPr/>
          <p:nvPr/>
        </p:nvSpPr>
        <p:spPr>
          <a:xfrm>
            <a:off x="822960" y="2359151"/>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2468879"/>
            <a:ext cx="2602001"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350" b="0" i="0">
                <a:solidFill>
                  <a:srgbClr val="111111"/>
                </a:solidFill>
                <a:latin typeface="Arial"/>
              </a:rPr>
              <a:t>Homework</a:t>
            </a:r>
          </a:p>
        </p:txBody>
      </p:sp>
      <p:sp>
        <p:nvSpPr>
          <p:cNvPr id="14" name="TextBox 13"/>
          <p:cNvSpPr txBox="1"/>
          <p:nvPr/>
        </p:nvSpPr>
        <p:spPr>
          <a:xfrm>
            <a:off x="3644417" y="2468879"/>
            <a:ext cx="1815693"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350" b="0" i="0">
                <a:solidFill>
                  <a:srgbClr val="6B6B6B"/>
                </a:solidFill>
                <a:latin typeface="Arial"/>
              </a:rPr>
              <a:t>40%</a:t>
            </a:r>
          </a:p>
        </p:txBody>
      </p:sp>
      <p:sp>
        <p:nvSpPr>
          <p:cNvPr id="15" name="TextBox 14"/>
          <p:cNvSpPr txBox="1"/>
          <p:nvPr/>
        </p:nvSpPr>
        <p:spPr>
          <a:xfrm>
            <a:off x="5679567" y="2468879"/>
            <a:ext cx="5469712"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350" b="0" i="0">
                <a:solidFill>
                  <a:srgbClr val="6B6B6B"/>
                </a:solidFill>
                <a:latin typeface="Arial"/>
              </a:rPr>
              <a:t>Five assignments; dates announced separately</a:t>
            </a:r>
          </a:p>
        </p:txBody>
      </p:sp>
      <p:sp>
        <p:nvSpPr>
          <p:cNvPr id="16" name="Rectangle 15"/>
          <p:cNvSpPr/>
          <p:nvPr/>
        </p:nvSpPr>
        <p:spPr>
          <a:xfrm>
            <a:off x="822960" y="3072383"/>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3182111"/>
            <a:ext cx="2602001" cy="241476"/>
          </a:xfrm>
          <a:prstGeom prst="rect">
            <a:avLst/>
          </a:prstGeom>
          <a:noFill/>
        </p:spPr>
        <p:txBody>
          <a:bodyPr wrap="square" lIns="18288" tIns="18288" rIns="18288" bIns="18288" anchor="t">
            <a:spAutoFit/>
          </a:bodyPr>
          <a:lstStyle/>
          <a:p>
            <a:pPr>
              <a:lnSpc>
                <a:spcPct val="106000"/>
              </a:lnSpc>
            </a:pPr>
            <a:r>
              <a:rPr lang="en-US" sz="1350">
                <a:solidFill>
                  <a:srgbClr val="111111"/>
                </a:solidFill>
                <a:latin typeface="Arial"/>
                <a:cs typeface="Arial"/>
              </a:rPr>
              <a:t>Topics literature review</a:t>
            </a:r>
            <a:endParaRPr sz="1350" b="0" i="0">
              <a:solidFill>
                <a:srgbClr val="111111"/>
              </a:solidFill>
              <a:latin typeface="Arial"/>
            </a:endParaRPr>
          </a:p>
        </p:txBody>
      </p:sp>
      <p:sp>
        <p:nvSpPr>
          <p:cNvPr id="18" name="TextBox 17"/>
          <p:cNvSpPr txBox="1"/>
          <p:nvPr/>
        </p:nvSpPr>
        <p:spPr>
          <a:xfrm>
            <a:off x="3644417" y="3182111"/>
            <a:ext cx="1815693"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350" b="0" i="0">
                <a:solidFill>
                  <a:srgbClr val="6B6B6B"/>
                </a:solidFill>
                <a:latin typeface="Arial"/>
              </a:rPr>
              <a:t>10%</a:t>
            </a:r>
          </a:p>
        </p:txBody>
      </p:sp>
      <p:sp>
        <p:nvSpPr>
          <p:cNvPr id="19" name="TextBox 18"/>
          <p:cNvSpPr txBox="1"/>
          <p:nvPr/>
        </p:nvSpPr>
        <p:spPr>
          <a:xfrm>
            <a:off x="5679567" y="3182111"/>
            <a:ext cx="5469712" cy="246478"/>
          </a:xfrm>
          <a:prstGeom prst="rect">
            <a:avLst/>
          </a:prstGeom>
          <a:noFill/>
        </p:spPr>
        <p:txBody>
          <a:bodyPr wrap="square" lIns="18288" tIns="18288" rIns="18288" bIns="18288" anchor="t">
            <a:spAutoFit/>
          </a:bodyPr>
          <a:lstStyle/>
          <a:p>
            <a:pPr>
              <a:lnSpc>
                <a:spcPct val="106000"/>
              </a:lnSpc>
            </a:pPr>
            <a:r>
              <a:rPr lang="en-US" sz="1350">
                <a:solidFill>
                  <a:srgbClr val="6B6B6B"/>
                </a:solidFill>
                <a:latin typeface="Arial"/>
                <a:cs typeface="Arial"/>
              </a:rPr>
              <a:t>Literature review, max 1 page, double-column</a:t>
            </a:r>
            <a:endParaRPr lang="en-US" sz="1350" dirty="0">
              <a:solidFill>
                <a:srgbClr val="6B6B6B"/>
              </a:solidFill>
              <a:latin typeface="Arial"/>
              <a:cs typeface="Arial"/>
            </a:endParaRPr>
          </a:p>
        </p:txBody>
      </p:sp>
      <p:sp>
        <p:nvSpPr>
          <p:cNvPr id="20" name="Rectangle 19"/>
          <p:cNvSpPr/>
          <p:nvPr/>
        </p:nvSpPr>
        <p:spPr>
          <a:xfrm>
            <a:off x="822960" y="3785615"/>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895344"/>
            <a:ext cx="2602001"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350" b="0" i="0">
                <a:solidFill>
                  <a:srgbClr val="111111"/>
                </a:solidFill>
                <a:latin typeface="Arial"/>
              </a:rPr>
              <a:t>Course project</a:t>
            </a:r>
          </a:p>
        </p:txBody>
      </p:sp>
      <p:sp>
        <p:nvSpPr>
          <p:cNvPr id="22" name="TextBox 21"/>
          <p:cNvSpPr txBox="1"/>
          <p:nvPr/>
        </p:nvSpPr>
        <p:spPr>
          <a:xfrm>
            <a:off x="3644417" y="3895344"/>
            <a:ext cx="1815693"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350" b="0" i="0">
                <a:solidFill>
                  <a:srgbClr val="6B6B6B"/>
                </a:solidFill>
                <a:latin typeface="Arial"/>
              </a:rPr>
              <a:t>50%</a:t>
            </a:r>
          </a:p>
        </p:txBody>
      </p:sp>
      <p:sp>
        <p:nvSpPr>
          <p:cNvPr id="23" name="TextBox 22"/>
          <p:cNvSpPr txBox="1"/>
          <p:nvPr/>
        </p:nvSpPr>
        <p:spPr>
          <a:xfrm>
            <a:off x="5679567" y="3895344"/>
            <a:ext cx="5469712"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350" b="0" i="0">
                <a:solidFill>
                  <a:srgbClr val="6B6B6B"/>
                </a:solidFill>
                <a:latin typeface="Arial"/>
              </a:rPr>
              <a:t>Research-oriented or system implementation track</a:t>
            </a:r>
          </a:p>
        </p:txBody>
      </p:sp>
      <p:sp>
        <p:nvSpPr>
          <p:cNvPr id="24" name="Rectangle 23"/>
          <p:cNvSpPr/>
          <p:nvPr/>
        </p:nvSpPr>
        <p:spPr>
          <a:xfrm>
            <a:off x="822960" y="4498848"/>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4608576"/>
            <a:ext cx="2602001"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350" b="0" i="0">
                <a:solidFill>
                  <a:srgbClr val="111111"/>
                </a:solidFill>
                <a:latin typeface="Arial"/>
              </a:rPr>
              <a:t>Late work</a:t>
            </a:r>
          </a:p>
        </p:txBody>
      </p:sp>
      <p:sp>
        <p:nvSpPr>
          <p:cNvPr id="26" name="TextBox 25"/>
          <p:cNvSpPr txBox="1"/>
          <p:nvPr/>
        </p:nvSpPr>
        <p:spPr>
          <a:xfrm>
            <a:off x="3644417" y="4608576"/>
            <a:ext cx="1815693"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350" b="0" i="0">
                <a:solidFill>
                  <a:srgbClr val="6B6B6B"/>
                </a:solidFill>
                <a:latin typeface="Arial"/>
              </a:rPr>
              <a:t>-</a:t>
            </a:r>
          </a:p>
        </p:txBody>
      </p:sp>
      <p:sp>
        <p:nvSpPr>
          <p:cNvPr id="27" name="TextBox 26"/>
          <p:cNvSpPr txBox="1"/>
          <p:nvPr/>
        </p:nvSpPr>
        <p:spPr>
          <a:xfrm>
            <a:off x="5679567" y="4608576"/>
            <a:ext cx="5469712"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350" b="0" i="0">
                <a:solidFill>
                  <a:srgbClr val="6B6B6B"/>
                </a:solidFill>
                <a:latin typeface="Arial"/>
              </a:rPr>
              <a:t>Homework and project: 20 points off per day late; none accepted after 4 days</a:t>
            </a:r>
          </a:p>
        </p:txBody>
      </p:sp>
      <p:sp>
        <p:nvSpPr>
          <p:cNvPr id="28" name="Rectangle 27"/>
          <p:cNvSpPr/>
          <p:nvPr/>
        </p:nvSpPr>
        <p:spPr>
          <a:xfrm>
            <a:off x="822960" y="5212079"/>
            <a:ext cx="10545775" cy="16459"/>
          </a:xfrm>
          <a:prstGeom prst="rect">
            <a:avLst/>
          </a:prstGeom>
          <a:solidFill>
            <a:srgbClr val="335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175100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F3342C-5398-9153-0077-5CD0BBCFEC74}"/>
              </a:ext>
            </a:extLst>
          </p:cNvPr>
          <p:cNvSpPr txBox="1"/>
          <p:nvPr/>
        </p:nvSpPr>
        <p:spPr>
          <a:xfrm>
            <a:off x="822960" y="475488"/>
            <a:ext cx="5486400" cy="201168"/>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900" b="1" i="0" spc="90">
                <a:solidFill>
                  <a:srgbClr val="33526B"/>
                </a:solidFill>
                <a:latin typeface="Arial"/>
              </a:rPr>
              <a:t>LOGISTICS</a:t>
            </a:r>
          </a:p>
        </p:txBody>
      </p:sp>
      <p:sp>
        <p:nvSpPr>
          <p:cNvPr id="5" name="TextBox 4">
            <a:extLst>
              <a:ext uri="{FF2B5EF4-FFF2-40B4-BE49-F238E27FC236}">
                <a16:creationId xmlns:a16="http://schemas.microsoft.com/office/drawing/2014/main" id="{2E5BA3AC-0C1C-4BDC-49AD-7F742CF4141F}"/>
              </a:ext>
            </a:extLst>
          </p:cNvPr>
          <p:cNvSpPr txBox="1"/>
          <p:nvPr/>
        </p:nvSpPr>
        <p:spPr>
          <a:xfrm>
            <a:off x="804672" y="731520"/>
            <a:ext cx="10545775" cy="498598"/>
          </a:xfrm>
          <a:prstGeom prst="rect">
            <a:avLst/>
          </a:prstGeom>
          <a:noFill/>
        </p:spPr>
        <p:txBody>
          <a:bodyPr wrap="square" lIns="18288" tIns="18288" rIns="18288" bIns="18288" anchor="t">
            <a:spAutoFit/>
          </a:bodyPr>
          <a:lstStyle/>
          <a:p>
            <a:r>
              <a:rPr lang="en-US" sz="3000" b="1">
                <a:solidFill>
                  <a:srgbClr val="111111"/>
                </a:solidFill>
                <a:latin typeface="Arial"/>
              </a:rPr>
              <a:t>Assignment 0</a:t>
            </a:r>
            <a:endParaRPr lang="en-US"/>
          </a:p>
        </p:txBody>
      </p:sp>
      <p:sp>
        <p:nvSpPr>
          <p:cNvPr id="7" name="TextBox 6">
            <a:extLst>
              <a:ext uri="{FF2B5EF4-FFF2-40B4-BE49-F238E27FC236}">
                <a16:creationId xmlns:a16="http://schemas.microsoft.com/office/drawing/2014/main" id="{B54016D6-9FF5-23F4-DB56-7CF313CFAD68}"/>
              </a:ext>
            </a:extLst>
          </p:cNvPr>
          <p:cNvSpPr txBox="1"/>
          <p:nvPr/>
        </p:nvSpPr>
        <p:spPr>
          <a:xfrm>
            <a:off x="822960" y="1316736"/>
            <a:ext cx="10180015" cy="260649"/>
          </a:xfrm>
          <a:prstGeom prst="rect">
            <a:avLst/>
          </a:prstGeom>
          <a:noFill/>
        </p:spPr>
        <p:txBody>
          <a:bodyPr wrap="square" lIns="18288" tIns="18288" rIns="18288" bIns="18288" anchor="t">
            <a:spAutoFit/>
          </a:bodyPr>
          <a:lstStyle/>
          <a:p>
            <a:pPr>
              <a:lnSpc>
                <a:spcPct val="110000"/>
              </a:lnSpc>
            </a:pPr>
            <a:r>
              <a:rPr lang="en-US" sz="1400">
                <a:solidFill>
                  <a:srgbClr val="6B6B6B"/>
                </a:solidFill>
                <a:latin typeface="Arial"/>
              </a:rPr>
              <a:t>Students with financial assistantship</a:t>
            </a:r>
            <a:endParaRPr lang="en-US"/>
          </a:p>
        </p:txBody>
      </p:sp>
      <p:sp>
        <p:nvSpPr>
          <p:cNvPr id="9" name="Rectangle 8">
            <a:extLst>
              <a:ext uri="{FF2B5EF4-FFF2-40B4-BE49-F238E27FC236}">
                <a16:creationId xmlns:a16="http://schemas.microsoft.com/office/drawing/2014/main" id="{54C7DB52-6204-2A8D-154F-6BD6BE1BE148}"/>
              </a:ext>
            </a:extLst>
          </p:cNvPr>
          <p:cNvSpPr/>
          <p:nvPr/>
        </p:nvSpPr>
        <p:spPr>
          <a:xfrm>
            <a:off x="822960" y="6382512"/>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D5FF4E50-0E77-0C17-0F9D-B450C378329D}"/>
              </a:ext>
            </a:extLst>
          </p:cNvPr>
          <p:cNvSpPr txBox="1"/>
          <p:nvPr/>
        </p:nvSpPr>
        <p:spPr>
          <a:xfrm>
            <a:off x="822960" y="6455664"/>
            <a:ext cx="4572000" cy="182880"/>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850" b="0" i="0">
                <a:solidFill>
                  <a:srgbClr val="9B9B9B"/>
                </a:solidFill>
                <a:latin typeface="Arial"/>
              </a:rPr>
              <a:t>CAP 6938  ·  AI Knowledge Systems</a:t>
            </a:r>
          </a:p>
        </p:txBody>
      </p:sp>
      <p:sp>
        <p:nvSpPr>
          <p:cNvPr id="13" name="TextBox 12">
            <a:extLst>
              <a:ext uri="{FF2B5EF4-FFF2-40B4-BE49-F238E27FC236}">
                <a16:creationId xmlns:a16="http://schemas.microsoft.com/office/drawing/2014/main" id="{02501B83-7727-18E2-2EB2-CEFB259819EA}"/>
              </a:ext>
            </a:extLst>
          </p:cNvPr>
          <p:cNvSpPr txBox="1"/>
          <p:nvPr/>
        </p:nvSpPr>
        <p:spPr>
          <a:xfrm>
            <a:off x="7711135" y="6455664"/>
            <a:ext cx="3657600" cy="182880"/>
          </a:xfrm>
          <a:prstGeom prst="rect">
            <a:avLst/>
          </a:prstGeom>
          <a:noFill/>
        </p:spPr>
        <p:txBody>
          <a:bodyPr wrap="square" lIns="18288" tIns="18288" rIns="18288" bIns="18288" anchor="t">
            <a:spAutoFit/>
          </a:bodyPr>
          <a:lstStyle/>
          <a:p>
            <a:pPr algn="r">
              <a:lnSpc>
                <a:spcPct val="100000"/>
              </a:lnSpc>
              <a:spcBef>
                <a:spcPts val="0"/>
              </a:spcBef>
              <a:spcAft>
                <a:spcPts val="0"/>
              </a:spcAft>
            </a:pPr>
            <a:r>
              <a:rPr sz="850" b="0" i="0">
                <a:solidFill>
                  <a:srgbClr val="9B9B9B"/>
                </a:solidFill>
                <a:latin typeface="Arial"/>
              </a:rPr>
              <a:t>Lecture 01  ·  18</a:t>
            </a:r>
          </a:p>
        </p:txBody>
      </p:sp>
      <p:sp>
        <p:nvSpPr>
          <p:cNvPr id="15" name="TextBox 14">
            <a:extLst>
              <a:ext uri="{FF2B5EF4-FFF2-40B4-BE49-F238E27FC236}">
                <a16:creationId xmlns:a16="http://schemas.microsoft.com/office/drawing/2014/main" id="{C17A47BA-EC89-4834-65E5-94326AABE69E}"/>
              </a:ext>
            </a:extLst>
          </p:cNvPr>
          <p:cNvSpPr txBox="1"/>
          <p:nvPr/>
        </p:nvSpPr>
        <p:spPr>
          <a:xfrm>
            <a:off x="822960" y="2450591"/>
            <a:ext cx="10545775" cy="1703480"/>
          </a:xfrm>
          <a:prstGeom prst="rect">
            <a:avLst/>
          </a:prstGeom>
          <a:noFill/>
        </p:spPr>
        <p:txBody>
          <a:bodyPr wrap="square" lIns="18288" tIns="18288" rIns="18288" bIns="18288" anchor="t">
            <a:spAutoFit/>
          </a:bodyPr>
          <a:lstStyle/>
          <a:p>
            <a:pPr marL="219075" indent="-219075">
              <a:lnSpc>
                <a:spcPct val="110000"/>
              </a:lnSpc>
            </a:pPr>
            <a:r>
              <a:rPr sz="2000" b="0" dirty="0">
                <a:solidFill>
                  <a:srgbClr val="1F1F1F"/>
                </a:solidFill>
                <a:latin typeface="Arial"/>
              </a:rPr>
              <a:t>–  </a:t>
            </a:r>
            <a:r>
              <a:rPr lang="en-US" sz="2000">
                <a:solidFill>
                  <a:srgbClr val="1F1F1F"/>
                </a:solidFill>
                <a:latin typeface="Arial"/>
              </a:rPr>
              <a:t>Review the Evo-Graph paper</a:t>
            </a:r>
          </a:p>
          <a:p>
            <a:pPr marL="219075" indent="-219075">
              <a:lnSpc>
                <a:spcPct val="110000"/>
              </a:lnSpc>
            </a:pPr>
            <a:endParaRPr lang="en-US" sz="2000" dirty="0">
              <a:solidFill>
                <a:srgbClr val="1F1F1F"/>
              </a:solidFill>
              <a:latin typeface="Arial"/>
              <a:ea typeface="Calibri"/>
              <a:cs typeface="Arial"/>
            </a:endParaRPr>
          </a:p>
          <a:p>
            <a:pPr marL="219075" indent="-219075">
              <a:lnSpc>
                <a:spcPct val="110000"/>
              </a:lnSpc>
            </a:pPr>
            <a:r>
              <a:rPr lang="en-US" sz="2000">
                <a:solidFill>
                  <a:srgbClr val="1F1F1F"/>
                </a:solidFill>
                <a:latin typeface="Arial"/>
                <a:ea typeface="Calibri"/>
                <a:cs typeface="Arial"/>
              </a:rPr>
              <a:t>– 1-page PDF summarizing motivations, and results</a:t>
            </a:r>
          </a:p>
          <a:p>
            <a:pPr marL="219075" indent="-219075">
              <a:lnSpc>
                <a:spcPct val="110000"/>
              </a:lnSpc>
            </a:pPr>
            <a:endParaRPr lang="en-US" sz="2000" dirty="0">
              <a:solidFill>
                <a:srgbClr val="1F1F1F"/>
              </a:solidFill>
              <a:latin typeface="Arial"/>
              <a:ea typeface="Calibri"/>
              <a:cs typeface="Arial"/>
            </a:endParaRPr>
          </a:p>
          <a:p>
            <a:pPr marL="219075" indent="-219075">
              <a:lnSpc>
                <a:spcPct val="110000"/>
              </a:lnSpc>
            </a:pPr>
            <a:r>
              <a:rPr lang="en-US" sz="2000">
                <a:solidFill>
                  <a:srgbClr val="1F1F1F"/>
                </a:solidFill>
                <a:latin typeface="Arial"/>
                <a:ea typeface="Calibri"/>
                <a:cs typeface="Arial"/>
              </a:rPr>
              <a:t>– Due 8/28</a:t>
            </a:r>
            <a:endParaRPr lang="en-US"/>
          </a:p>
        </p:txBody>
      </p:sp>
    </p:spTree>
    <p:extLst>
      <p:ext uri="{BB962C8B-B14F-4D97-AF65-F5344CB8AC3E}">
        <p14:creationId xmlns:p14="http://schemas.microsoft.com/office/powerpoint/2010/main" val="1261745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475488"/>
            <a:ext cx="5486400" cy="201168"/>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900" b="1" i="0" spc="90">
                <a:solidFill>
                  <a:srgbClr val="33526B"/>
                </a:solidFill>
                <a:latin typeface="Arial"/>
              </a:rPr>
              <a:t>COURSE PROJECT</a:t>
            </a:r>
          </a:p>
        </p:txBody>
      </p:sp>
      <p:sp>
        <p:nvSpPr>
          <p:cNvPr id="3" name="TextBox 2"/>
          <p:cNvSpPr txBox="1"/>
          <p:nvPr/>
        </p:nvSpPr>
        <p:spPr>
          <a:xfrm>
            <a:off x="804672" y="731520"/>
            <a:ext cx="10545775" cy="498598"/>
          </a:xfrm>
          <a:prstGeom prst="rect">
            <a:avLst/>
          </a:prstGeom>
          <a:noFill/>
        </p:spPr>
        <p:txBody>
          <a:bodyPr wrap="square" lIns="18288" tIns="18288" rIns="18288" bIns="18288" anchor="t">
            <a:spAutoFit/>
          </a:bodyPr>
          <a:lstStyle/>
          <a:p>
            <a:r>
              <a:rPr sz="3000" b="1" i="0">
                <a:solidFill>
                  <a:srgbClr val="111111"/>
                </a:solidFill>
                <a:latin typeface="Arial"/>
              </a:rPr>
              <a:t>Final project</a:t>
            </a:r>
            <a:r>
              <a:rPr lang="en-US" sz="3000" b="1">
                <a:solidFill>
                  <a:srgbClr val="111111"/>
                </a:solidFill>
                <a:latin typeface="Arial"/>
              </a:rPr>
              <a:t> (individual)</a:t>
            </a:r>
            <a:endParaRPr sz="3000" b="1" i="0">
              <a:solidFill>
                <a:srgbClr val="111111"/>
              </a:solidFill>
              <a:latin typeface="Arial"/>
            </a:endParaRPr>
          </a:p>
        </p:txBody>
      </p:sp>
      <p:sp>
        <p:nvSpPr>
          <p:cNvPr id="4" name="TextBox 3"/>
          <p:cNvSpPr txBox="1"/>
          <p:nvPr/>
        </p:nvSpPr>
        <p:spPr>
          <a:xfrm>
            <a:off x="822960" y="1316736"/>
            <a:ext cx="10180015" cy="253491"/>
          </a:xfrm>
          <a:prstGeom prst="rect">
            <a:avLst/>
          </a:prstGeom>
          <a:noFill/>
        </p:spPr>
        <p:txBody>
          <a:bodyPr wrap="square" lIns="18288" tIns="18288" rIns="18288" bIns="18288" anchor="t">
            <a:spAutoFit/>
          </a:bodyPr>
          <a:lstStyle/>
          <a:p>
            <a:pPr algn="l">
              <a:lnSpc>
                <a:spcPct val="110000"/>
              </a:lnSpc>
              <a:spcBef>
                <a:spcPts val="0"/>
              </a:spcBef>
              <a:spcAft>
                <a:spcPts val="0"/>
              </a:spcAft>
            </a:pPr>
            <a:r>
              <a:rPr sz="1400" b="0" i="0">
                <a:solidFill>
                  <a:srgbClr val="6B6B6B"/>
                </a:solidFill>
                <a:latin typeface="Arial"/>
              </a:rPr>
              <a:t>Both tracks require a working implementation and credible evidence.</a:t>
            </a:r>
          </a:p>
        </p:txBody>
      </p:sp>
      <p:sp>
        <p:nvSpPr>
          <p:cNvPr id="5" name="Rectangle 4"/>
          <p:cNvSpPr/>
          <p:nvPr/>
        </p:nvSpPr>
        <p:spPr>
          <a:xfrm>
            <a:off x="822960" y="1773936"/>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6382512"/>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6455664"/>
            <a:ext cx="4572000" cy="182880"/>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850" b="0" i="0">
                <a:solidFill>
                  <a:srgbClr val="9B9B9B"/>
                </a:solidFill>
                <a:latin typeface="Arial"/>
              </a:rPr>
              <a:t>CAP 6938  ·  AI Knowledge Systems</a:t>
            </a:r>
          </a:p>
        </p:txBody>
      </p:sp>
      <p:sp>
        <p:nvSpPr>
          <p:cNvPr id="8" name="TextBox 7"/>
          <p:cNvSpPr txBox="1"/>
          <p:nvPr/>
        </p:nvSpPr>
        <p:spPr>
          <a:xfrm>
            <a:off x="7711135" y="6455664"/>
            <a:ext cx="3657600" cy="182880"/>
          </a:xfrm>
          <a:prstGeom prst="rect">
            <a:avLst/>
          </a:prstGeom>
          <a:noFill/>
        </p:spPr>
        <p:txBody>
          <a:bodyPr wrap="square" lIns="18288" tIns="18288" rIns="18288" bIns="18288" anchor="t">
            <a:spAutoFit/>
          </a:bodyPr>
          <a:lstStyle/>
          <a:p>
            <a:pPr algn="r">
              <a:lnSpc>
                <a:spcPct val="100000"/>
              </a:lnSpc>
              <a:spcBef>
                <a:spcPts val="0"/>
              </a:spcBef>
              <a:spcAft>
                <a:spcPts val="0"/>
              </a:spcAft>
            </a:pPr>
            <a:r>
              <a:rPr sz="850" b="0" i="0">
                <a:solidFill>
                  <a:srgbClr val="9B9B9B"/>
                </a:solidFill>
                <a:latin typeface="Arial"/>
              </a:rPr>
              <a:t>Lecture 01  ·  19</a:t>
            </a:r>
          </a:p>
        </p:txBody>
      </p:sp>
      <p:sp>
        <p:nvSpPr>
          <p:cNvPr id="9" name="TextBox 8"/>
          <p:cNvSpPr txBox="1"/>
          <p:nvPr/>
        </p:nvSpPr>
        <p:spPr>
          <a:xfrm>
            <a:off x="822960" y="2029967"/>
            <a:ext cx="4952847" cy="201168"/>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900" b="1" i="0" spc="90">
                <a:solidFill>
                  <a:srgbClr val="33526B"/>
                </a:solidFill>
                <a:latin typeface="Arial"/>
              </a:rPr>
              <a:t>RESEARCH-ORIENTED TRACK</a:t>
            </a:r>
          </a:p>
        </p:txBody>
      </p:sp>
      <p:sp>
        <p:nvSpPr>
          <p:cNvPr id="10" name="Rectangle 9"/>
          <p:cNvSpPr/>
          <p:nvPr/>
        </p:nvSpPr>
        <p:spPr>
          <a:xfrm>
            <a:off x="822960" y="2286000"/>
            <a:ext cx="4952847"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450591"/>
            <a:ext cx="4952847" cy="2529026"/>
          </a:xfrm>
          <a:prstGeom prst="rect">
            <a:avLst/>
          </a:prstGeom>
          <a:noFill/>
        </p:spPr>
        <p:txBody>
          <a:bodyPr wrap="square" lIns="18288" tIns="18288" rIns="18288" bIns="18288" anchor="t">
            <a:spAutoFit/>
          </a:bodyPr>
          <a:lstStyle/>
          <a:p>
            <a:pPr marL="219075" indent="-219075">
              <a:lnSpc>
                <a:spcPct val="110000"/>
              </a:lnSpc>
            </a:pPr>
            <a:r>
              <a:rPr sz="1650" b="0">
                <a:solidFill>
                  <a:srgbClr val="1F1F1F"/>
                </a:solidFill>
                <a:latin typeface="Arial"/>
              </a:rPr>
              <a:t>–  Propose one specific</a:t>
            </a:r>
            <a:r>
              <a:rPr lang="en-US" sz="1650">
                <a:solidFill>
                  <a:srgbClr val="1F1F1F"/>
                </a:solidFill>
                <a:latin typeface="Arial"/>
              </a:rPr>
              <a:t> novel</a:t>
            </a:r>
            <a:r>
              <a:rPr sz="1650" b="0">
                <a:solidFill>
                  <a:srgbClr val="1F1F1F"/>
                </a:solidFill>
                <a:latin typeface="Arial"/>
              </a:rPr>
              <a:t> improvement to a method from Topics 1-8, approved at the proposal meeting.</a:t>
            </a:r>
            <a:endParaRPr lang="en-US"/>
          </a:p>
          <a:p>
            <a:pPr marL="219456" indent="-219456">
              <a:lnSpc>
                <a:spcPct val="110000"/>
              </a:lnSpc>
              <a:spcAft>
                <a:spcPts val="0"/>
              </a:spcAft>
            </a:pPr>
            <a:endParaRPr sz="1650" b="0">
              <a:solidFill>
                <a:srgbClr val="1F1F1F"/>
              </a:solidFill>
              <a:latin typeface="Arial"/>
            </a:endParaRPr>
          </a:p>
          <a:p>
            <a:pPr marL="219075" indent="-219075">
              <a:lnSpc>
                <a:spcPct val="110000"/>
              </a:lnSpc>
              <a:spcAft>
                <a:spcPts val="0"/>
              </a:spcAft>
            </a:pPr>
            <a:r>
              <a:rPr sz="1650" b="0">
                <a:solidFill>
                  <a:srgbClr val="1F1F1F"/>
                </a:solidFill>
                <a:latin typeface="Arial"/>
              </a:rPr>
              <a:t>–  Compare against the method you improve on, changing one variable at a time.</a:t>
            </a:r>
            <a:endParaRPr sz="1650" b="0">
              <a:solidFill>
                <a:srgbClr val="1F1F1F"/>
              </a:solidFill>
              <a:latin typeface="Arial"/>
              <a:cs typeface="Arial"/>
            </a:endParaRPr>
          </a:p>
          <a:p>
            <a:pPr marL="219456" indent="-219456">
              <a:lnSpc>
                <a:spcPct val="110000"/>
              </a:lnSpc>
              <a:spcAft>
                <a:spcPts val="0"/>
              </a:spcAft>
            </a:pPr>
            <a:endParaRPr sz="1650" b="0">
              <a:solidFill>
                <a:srgbClr val="1F1F1F"/>
              </a:solidFill>
              <a:latin typeface="Arial"/>
            </a:endParaRPr>
          </a:p>
          <a:p>
            <a:pPr marL="219075" indent="-219075">
              <a:lnSpc>
                <a:spcPct val="110000"/>
              </a:lnSpc>
              <a:spcAft>
                <a:spcPts val="0"/>
              </a:spcAft>
            </a:pPr>
            <a:r>
              <a:rPr sz="1650" b="0">
                <a:solidFill>
                  <a:srgbClr val="1F1F1F"/>
                </a:solidFill>
                <a:latin typeface="Arial"/>
              </a:rPr>
              <a:t>–  Include an ablation (remove one component at a time) or an error analysis, plus limitations.</a:t>
            </a:r>
          </a:p>
        </p:txBody>
      </p:sp>
      <p:sp>
        <p:nvSpPr>
          <p:cNvPr id="12" name="TextBox 11"/>
          <p:cNvSpPr txBox="1"/>
          <p:nvPr/>
        </p:nvSpPr>
        <p:spPr>
          <a:xfrm>
            <a:off x="6415887" y="2029967"/>
            <a:ext cx="4952847" cy="201168"/>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900" b="1" i="0" spc="90">
                <a:solidFill>
                  <a:srgbClr val="33526B"/>
                </a:solidFill>
                <a:latin typeface="Arial"/>
              </a:rPr>
              <a:t>SYSTEM IMPLEMENTATION TRACK</a:t>
            </a:r>
          </a:p>
        </p:txBody>
      </p:sp>
      <p:sp>
        <p:nvSpPr>
          <p:cNvPr id="13" name="Rectangle 12"/>
          <p:cNvSpPr/>
          <p:nvPr/>
        </p:nvSpPr>
        <p:spPr>
          <a:xfrm>
            <a:off x="6415887" y="2286000"/>
            <a:ext cx="4952847"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5887" y="2450591"/>
            <a:ext cx="4952847" cy="1970411"/>
          </a:xfrm>
          <a:prstGeom prst="rect">
            <a:avLst/>
          </a:prstGeom>
          <a:noFill/>
        </p:spPr>
        <p:txBody>
          <a:bodyPr wrap="square" lIns="18288" tIns="18288" rIns="18288" bIns="18288" anchor="t">
            <a:spAutoFit/>
          </a:bodyPr>
          <a:lstStyle/>
          <a:p>
            <a:pPr marL="219075" indent="-219075">
              <a:lnSpc>
                <a:spcPct val="110000"/>
              </a:lnSpc>
              <a:spcAft>
                <a:spcPts val="0"/>
              </a:spcAft>
            </a:pPr>
            <a:r>
              <a:rPr sz="1650" b="0" dirty="0">
                <a:solidFill>
                  <a:srgbClr val="1F1F1F"/>
                </a:solidFill>
                <a:latin typeface="Arial"/>
              </a:rPr>
              <a:t>–  Build an AI agent </a:t>
            </a:r>
            <a:r>
              <a:rPr lang="en-US" sz="1650">
                <a:solidFill>
                  <a:srgbClr val="1F1F1F"/>
                </a:solidFill>
                <a:latin typeface="Arial"/>
              </a:rPr>
              <a:t>for</a:t>
            </a:r>
            <a:r>
              <a:rPr sz="1650" b="0" dirty="0">
                <a:solidFill>
                  <a:srgbClr val="1F1F1F"/>
                </a:solidFill>
                <a:latin typeface="Arial"/>
              </a:rPr>
              <a:t> a specific task.</a:t>
            </a:r>
            <a:endParaRPr lang="en-US" dirty="0"/>
          </a:p>
          <a:p>
            <a:pPr marL="219456" indent="-219456">
              <a:lnSpc>
                <a:spcPct val="110000"/>
              </a:lnSpc>
              <a:spcAft>
                <a:spcPts val="0"/>
              </a:spcAft>
            </a:pPr>
            <a:endParaRPr sz="1650" b="0">
              <a:solidFill>
                <a:srgbClr val="1F1F1F"/>
              </a:solidFill>
              <a:latin typeface="Arial"/>
            </a:endParaRPr>
          </a:p>
          <a:p>
            <a:pPr marL="219075" indent="-219075">
              <a:lnSpc>
                <a:spcPct val="110000"/>
              </a:lnSpc>
              <a:spcAft>
                <a:spcPts val="0"/>
              </a:spcAft>
            </a:pPr>
            <a:r>
              <a:rPr sz="1650" b="0">
                <a:solidFill>
                  <a:srgbClr val="1F1F1F"/>
                </a:solidFill>
                <a:latin typeface="Arial"/>
              </a:rPr>
              <a:t>–  One narrow path that runs end to end, with a measurement at each component.</a:t>
            </a:r>
            <a:endParaRPr sz="1650" b="0">
              <a:solidFill>
                <a:srgbClr val="1F1F1F"/>
              </a:solidFill>
              <a:latin typeface="Arial"/>
              <a:cs typeface="Arial"/>
            </a:endParaRPr>
          </a:p>
          <a:p>
            <a:pPr marL="219456" indent="-219456">
              <a:lnSpc>
                <a:spcPct val="110000"/>
              </a:lnSpc>
              <a:spcAft>
                <a:spcPts val="0"/>
              </a:spcAft>
            </a:pPr>
            <a:endParaRPr sz="1650" b="0">
              <a:solidFill>
                <a:srgbClr val="1F1F1F"/>
              </a:solidFill>
              <a:latin typeface="Arial"/>
            </a:endParaRPr>
          </a:p>
          <a:p>
            <a:pPr marL="219075" indent="-219075">
              <a:lnSpc>
                <a:spcPct val="110000"/>
              </a:lnSpc>
              <a:spcAft>
                <a:spcPts val="0"/>
              </a:spcAft>
            </a:pPr>
            <a:r>
              <a:rPr sz="1650" b="0">
                <a:solidFill>
                  <a:srgbClr val="1F1F1F"/>
                </a:solidFill>
                <a:latin typeface="Arial"/>
              </a:rPr>
              <a:t>–  Evaluate end-to-end behavior, cost, reliability, and representative failures.</a:t>
            </a:r>
          </a:p>
        </p:txBody>
      </p:sp>
      <p:sp>
        <p:nvSpPr>
          <p:cNvPr id="15" name="TextBox 14">
            <a:extLst>
              <a:ext uri="{FF2B5EF4-FFF2-40B4-BE49-F238E27FC236}">
                <a16:creationId xmlns:a16="http://schemas.microsoft.com/office/drawing/2014/main" id="{AE57C227-0F74-CB7B-4A11-6B48716B321B}"/>
              </a:ext>
            </a:extLst>
          </p:cNvPr>
          <p:cNvSpPr txBox="1"/>
          <p:nvPr/>
        </p:nvSpPr>
        <p:spPr>
          <a:xfrm>
            <a:off x="2145176" y="5131881"/>
            <a:ext cx="10048389"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1700">
                <a:solidFill>
                  <a:srgbClr val="FF0000"/>
                </a:solidFill>
                <a:latin typeface="Arial"/>
                <a:cs typeface="Arial"/>
              </a:rPr>
              <a:t>8 page paper (double column, </a:t>
            </a:r>
            <a:r>
              <a:rPr lang="en-US" sz="1700" dirty="0">
                <a:solidFill>
                  <a:srgbClr val="FF0000"/>
                </a:solidFill>
                <a:latin typeface="Arial"/>
                <a:ea typeface="+mn-lt"/>
                <a:cs typeface="Arial"/>
                <a:hlinkClick r:id="rId3"/>
              </a:rPr>
              <a:t>https://www.overleaf.com/latex/templates/cvpr-2026-submission-template/rdtrwgypxxzb</a:t>
            </a:r>
            <a:r>
              <a:rPr lang="en-US" sz="1700" dirty="0">
                <a:solidFill>
                  <a:srgbClr val="FF0000"/>
                </a:solidFill>
                <a:latin typeface="Arial"/>
                <a:cs typeface="Arial"/>
              </a:rPr>
              <a:t>)</a:t>
            </a:r>
            <a:endParaRPr lang="en-US">
              <a:solidFill>
                <a:srgbClr val="000000"/>
              </a:solidFill>
              <a:latin typeface="Calibri"/>
              <a:ea typeface="Calibri"/>
              <a:cs typeface="Calibri"/>
            </a:endParaRPr>
          </a:p>
          <a:p>
            <a:pPr marL="342900" indent="-342900">
              <a:buAutoNum type="arabicPeriod"/>
            </a:pPr>
            <a:r>
              <a:rPr lang="en-US" sz="1700">
                <a:solidFill>
                  <a:srgbClr val="FF0000"/>
                </a:solidFill>
                <a:latin typeface="Arial"/>
                <a:cs typeface="Arial"/>
              </a:rPr>
              <a:t>Code submission</a:t>
            </a:r>
            <a:endParaRPr lang="en-US">
              <a:solidFill>
                <a:srgbClr val="000000"/>
              </a:solidFill>
              <a:latin typeface="Calibri"/>
              <a:ea typeface="Calibri"/>
              <a:cs typeface="Calibri"/>
            </a:endParaRPr>
          </a:p>
          <a:p>
            <a:pPr marL="342900" indent="-342900">
              <a:buAutoNum type="arabicPeriod"/>
            </a:pPr>
            <a:r>
              <a:rPr lang="en-US" sz="1700">
                <a:solidFill>
                  <a:srgbClr val="FF0000"/>
                </a:solidFill>
                <a:latin typeface="Arial"/>
                <a:cs typeface="Arial"/>
              </a:rPr>
              <a:t>Demo</a:t>
            </a:r>
            <a:endParaRPr lang="en-US">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1692880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585E425-795F-927D-86DB-B2ECEE9616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D5F9EEC-27AB-21FE-0F02-0EE5494FC973}"/>
              </a:ext>
            </a:extLst>
          </p:cNvPr>
          <p:cNvSpPr txBox="1"/>
          <p:nvPr/>
        </p:nvSpPr>
        <p:spPr>
          <a:xfrm>
            <a:off x="822960" y="475488"/>
            <a:ext cx="5486400" cy="201168"/>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900" b="1" i="0" spc="90">
                <a:solidFill>
                  <a:srgbClr val="33526B"/>
                </a:solidFill>
                <a:latin typeface="Arial"/>
              </a:rPr>
              <a:t>COURSE PROJECT</a:t>
            </a:r>
          </a:p>
        </p:txBody>
      </p:sp>
      <p:sp>
        <p:nvSpPr>
          <p:cNvPr id="3" name="TextBox 2">
            <a:extLst>
              <a:ext uri="{FF2B5EF4-FFF2-40B4-BE49-F238E27FC236}">
                <a16:creationId xmlns:a16="http://schemas.microsoft.com/office/drawing/2014/main" id="{6995871C-BBB5-7BC0-C86C-9F5FB816AB9B}"/>
              </a:ext>
            </a:extLst>
          </p:cNvPr>
          <p:cNvSpPr txBox="1"/>
          <p:nvPr/>
        </p:nvSpPr>
        <p:spPr>
          <a:xfrm>
            <a:off x="804672" y="731520"/>
            <a:ext cx="10545775" cy="498598"/>
          </a:xfrm>
          <a:prstGeom prst="rect">
            <a:avLst/>
          </a:prstGeom>
          <a:noFill/>
        </p:spPr>
        <p:txBody>
          <a:bodyPr wrap="square" lIns="18288" tIns="18288" rIns="18288" bIns="18288" anchor="t">
            <a:spAutoFit/>
          </a:bodyPr>
          <a:lstStyle/>
          <a:p>
            <a:r>
              <a:rPr sz="3000" b="1" i="0">
                <a:solidFill>
                  <a:srgbClr val="111111"/>
                </a:solidFill>
                <a:latin typeface="Arial"/>
              </a:rPr>
              <a:t>Final project</a:t>
            </a:r>
            <a:r>
              <a:rPr lang="en-US" sz="3000" b="1">
                <a:solidFill>
                  <a:srgbClr val="111111"/>
                </a:solidFill>
                <a:latin typeface="Arial"/>
              </a:rPr>
              <a:t> (individual)</a:t>
            </a:r>
            <a:endParaRPr sz="3000" b="1" i="0">
              <a:solidFill>
                <a:srgbClr val="111111"/>
              </a:solidFill>
              <a:latin typeface="Arial"/>
            </a:endParaRPr>
          </a:p>
        </p:txBody>
      </p:sp>
      <p:sp>
        <p:nvSpPr>
          <p:cNvPr id="4" name="TextBox 3">
            <a:extLst>
              <a:ext uri="{FF2B5EF4-FFF2-40B4-BE49-F238E27FC236}">
                <a16:creationId xmlns:a16="http://schemas.microsoft.com/office/drawing/2014/main" id="{F5CEF9BD-63C4-8403-BCB2-E28A09D33195}"/>
              </a:ext>
            </a:extLst>
          </p:cNvPr>
          <p:cNvSpPr txBox="1"/>
          <p:nvPr/>
        </p:nvSpPr>
        <p:spPr>
          <a:xfrm>
            <a:off x="822960" y="1316736"/>
            <a:ext cx="10180015" cy="260649"/>
          </a:xfrm>
          <a:prstGeom prst="rect">
            <a:avLst/>
          </a:prstGeom>
          <a:noFill/>
        </p:spPr>
        <p:txBody>
          <a:bodyPr wrap="square" lIns="18288" tIns="18288" rIns="18288" bIns="18288" anchor="t">
            <a:spAutoFit/>
          </a:bodyPr>
          <a:lstStyle/>
          <a:p>
            <a:pPr>
              <a:lnSpc>
                <a:spcPct val="110000"/>
              </a:lnSpc>
            </a:pPr>
            <a:r>
              <a:rPr lang="en-US" sz="1400">
                <a:solidFill>
                  <a:srgbClr val="6B6B6B"/>
                </a:solidFill>
                <a:latin typeface="Arial"/>
              </a:rPr>
              <a:t>Project list</a:t>
            </a:r>
            <a:endParaRPr lang="en-US"/>
          </a:p>
        </p:txBody>
      </p:sp>
      <p:sp>
        <p:nvSpPr>
          <p:cNvPr id="6" name="Rectangle 5">
            <a:extLst>
              <a:ext uri="{FF2B5EF4-FFF2-40B4-BE49-F238E27FC236}">
                <a16:creationId xmlns:a16="http://schemas.microsoft.com/office/drawing/2014/main" id="{0FDDEF8E-C600-6DFC-15B1-5731C77C090E}"/>
              </a:ext>
            </a:extLst>
          </p:cNvPr>
          <p:cNvSpPr/>
          <p:nvPr/>
        </p:nvSpPr>
        <p:spPr>
          <a:xfrm>
            <a:off x="822960" y="6382512"/>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2E364628-14DD-AF4D-2F03-3705661DC76C}"/>
              </a:ext>
            </a:extLst>
          </p:cNvPr>
          <p:cNvSpPr txBox="1"/>
          <p:nvPr/>
        </p:nvSpPr>
        <p:spPr>
          <a:xfrm>
            <a:off x="822960" y="6455664"/>
            <a:ext cx="4572000" cy="182880"/>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850" b="0" i="0">
                <a:solidFill>
                  <a:srgbClr val="9B9B9B"/>
                </a:solidFill>
                <a:latin typeface="Arial"/>
              </a:rPr>
              <a:t>CAP 6938  ·  AI Knowledge Systems</a:t>
            </a:r>
          </a:p>
        </p:txBody>
      </p:sp>
      <p:sp>
        <p:nvSpPr>
          <p:cNvPr id="8" name="TextBox 7">
            <a:extLst>
              <a:ext uri="{FF2B5EF4-FFF2-40B4-BE49-F238E27FC236}">
                <a16:creationId xmlns:a16="http://schemas.microsoft.com/office/drawing/2014/main" id="{FD52EF1B-3C12-E239-1D54-3F76CC270F56}"/>
              </a:ext>
            </a:extLst>
          </p:cNvPr>
          <p:cNvSpPr txBox="1"/>
          <p:nvPr/>
        </p:nvSpPr>
        <p:spPr>
          <a:xfrm>
            <a:off x="7711135" y="6455664"/>
            <a:ext cx="3657600" cy="182880"/>
          </a:xfrm>
          <a:prstGeom prst="rect">
            <a:avLst/>
          </a:prstGeom>
          <a:noFill/>
        </p:spPr>
        <p:txBody>
          <a:bodyPr wrap="square" lIns="18288" tIns="18288" rIns="18288" bIns="18288" anchor="t">
            <a:spAutoFit/>
          </a:bodyPr>
          <a:lstStyle/>
          <a:p>
            <a:pPr algn="r">
              <a:lnSpc>
                <a:spcPct val="100000"/>
              </a:lnSpc>
              <a:spcBef>
                <a:spcPts val="0"/>
              </a:spcBef>
              <a:spcAft>
                <a:spcPts val="0"/>
              </a:spcAft>
            </a:pPr>
            <a:r>
              <a:rPr sz="850" b="0" i="0">
                <a:solidFill>
                  <a:srgbClr val="9B9B9B"/>
                </a:solidFill>
                <a:latin typeface="Arial"/>
              </a:rPr>
              <a:t>Lecture 01  ·  19</a:t>
            </a:r>
          </a:p>
        </p:txBody>
      </p:sp>
      <p:sp>
        <p:nvSpPr>
          <p:cNvPr id="15" name="TextBox 14">
            <a:extLst>
              <a:ext uri="{FF2B5EF4-FFF2-40B4-BE49-F238E27FC236}">
                <a16:creationId xmlns:a16="http://schemas.microsoft.com/office/drawing/2014/main" id="{01F8470A-604B-0CFB-F28C-2D18BA2F7A1A}"/>
              </a:ext>
            </a:extLst>
          </p:cNvPr>
          <p:cNvSpPr txBox="1"/>
          <p:nvPr/>
        </p:nvSpPr>
        <p:spPr>
          <a:xfrm>
            <a:off x="809927" y="2181753"/>
            <a:ext cx="10782426" cy="19236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solidFill>
                  <a:srgbClr val="FF0000"/>
                </a:solidFill>
                <a:ea typeface="+mn-lt"/>
                <a:cs typeface="+mn-lt"/>
                <a:hlinkClick r:id="rId3"/>
              </a:rPr>
              <a:t>https://docs.google.com/spreadsheets/d/1i1DS1TGPymv9cMJrRQznfzE8yFBghV8SGf7nfkR3Qw4/edit?usp=sharing</a:t>
            </a:r>
          </a:p>
          <a:p>
            <a:endParaRPr lang="en-US" sz="1700" dirty="0">
              <a:solidFill>
                <a:srgbClr val="FF0000"/>
              </a:solidFill>
              <a:ea typeface="Calibri"/>
              <a:cs typeface="Calibri"/>
            </a:endParaRPr>
          </a:p>
          <a:p>
            <a:r>
              <a:rPr lang="en-US" sz="1700">
                <a:ea typeface="Calibri"/>
                <a:cs typeface="Calibri"/>
              </a:rPr>
              <a:t>Instructions: </a:t>
            </a:r>
            <a:endParaRPr lang="en-US">
              <a:ea typeface="Calibri"/>
              <a:cs typeface="Calibri"/>
            </a:endParaRPr>
          </a:p>
          <a:p>
            <a:endParaRPr lang="en-US" sz="1700" dirty="0">
              <a:ea typeface="Calibri"/>
              <a:cs typeface="Calibri"/>
            </a:endParaRPr>
          </a:p>
          <a:p>
            <a:r>
              <a:rPr lang="en-US" sz="1700">
                <a:ea typeface="Calibri"/>
                <a:cs typeface="Calibri"/>
              </a:rPr>
              <a:t>Each row can have a max of 3 students only, please enter your name to select the agent as your term project. Students are allowed to add their own project but the project has to be different from this initial list, and it has to be approved by the professor who will add it to this list (do not add to this list yourself)</a:t>
            </a:r>
            <a:endParaRPr lang="en-US">
              <a:ea typeface="Calibri"/>
              <a:cs typeface="Calibri"/>
            </a:endParaRPr>
          </a:p>
        </p:txBody>
      </p:sp>
    </p:spTree>
    <p:extLst>
      <p:ext uri="{BB962C8B-B14F-4D97-AF65-F5344CB8AC3E}">
        <p14:creationId xmlns:p14="http://schemas.microsoft.com/office/powerpoint/2010/main" val="988424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75858D5-0FF5-7AE7-8B89-18A58D98A2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AC6A56-FD46-FF55-BF77-3A12D9BB9D72}"/>
              </a:ext>
            </a:extLst>
          </p:cNvPr>
          <p:cNvSpPr txBox="1"/>
          <p:nvPr/>
        </p:nvSpPr>
        <p:spPr>
          <a:xfrm>
            <a:off x="822960" y="475488"/>
            <a:ext cx="5486400" cy="201168"/>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900" b="1" i="0" spc="90">
                <a:solidFill>
                  <a:srgbClr val="33526B"/>
                </a:solidFill>
                <a:latin typeface="Arial"/>
              </a:rPr>
              <a:t>LOGISTICS</a:t>
            </a:r>
          </a:p>
        </p:txBody>
      </p:sp>
      <p:sp>
        <p:nvSpPr>
          <p:cNvPr id="3" name="TextBox 2">
            <a:extLst>
              <a:ext uri="{FF2B5EF4-FFF2-40B4-BE49-F238E27FC236}">
                <a16:creationId xmlns:a16="http://schemas.microsoft.com/office/drawing/2014/main" id="{7967B59B-DFB7-9FCD-28EF-74C8EFC3518F}"/>
              </a:ext>
            </a:extLst>
          </p:cNvPr>
          <p:cNvSpPr txBox="1"/>
          <p:nvPr/>
        </p:nvSpPr>
        <p:spPr>
          <a:xfrm>
            <a:off x="804672" y="731520"/>
            <a:ext cx="10545775" cy="498598"/>
          </a:xfrm>
          <a:prstGeom prst="rect">
            <a:avLst/>
          </a:prstGeom>
          <a:noFill/>
        </p:spPr>
        <p:txBody>
          <a:bodyPr wrap="square" lIns="18288" tIns="18288" rIns="18288" bIns="18288" anchor="t">
            <a:spAutoFit/>
          </a:bodyPr>
          <a:lstStyle/>
          <a:p>
            <a:r>
              <a:rPr lang="en-US" sz="3000" b="1">
                <a:solidFill>
                  <a:srgbClr val="111111"/>
                </a:solidFill>
                <a:latin typeface="Arial"/>
              </a:rPr>
              <a:t>Integrity</a:t>
            </a:r>
            <a:endParaRPr lang="en-US"/>
          </a:p>
        </p:txBody>
      </p:sp>
      <p:sp>
        <p:nvSpPr>
          <p:cNvPr id="4" name="TextBox 3">
            <a:extLst>
              <a:ext uri="{FF2B5EF4-FFF2-40B4-BE49-F238E27FC236}">
                <a16:creationId xmlns:a16="http://schemas.microsoft.com/office/drawing/2014/main" id="{E73EE31C-8411-26F5-2D23-D23A570CF2D4}"/>
              </a:ext>
            </a:extLst>
          </p:cNvPr>
          <p:cNvSpPr txBox="1"/>
          <p:nvPr/>
        </p:nvSpPr>
        <p:spPr>
          <a:xfrm>
            <a:off x="822960" y="1316736"/>
            <a:ext cx="10180015" cy="260649"/>
          </a:xfrm>
          <a:prstGeom prst="rect">
            <a:avLst/>
          </a:prstGeom>
          <a:noFill/>
        </p:spPr>
        <p:txBody>
          <a:bodyPr wrap="square" lIns="18288" tIns="18288" rIns="18288" bIns="18288" anchor="t">
            <a:spAutoFit/>
          </a:bodyPr>
          <a:lstStyle/>
          <a:p>
            <a:pPr>
              <a:lnSpc>
                <a:spcPct val="110000"/>
              </a:lnSpc>
            </a:pPr>
            <a:r>
              <a:rPr lang="en-US" sz="1400">
                <a:solidFill>
                  <a:srgbClr val="6B6B6B"/>
                </a:solidFill>
                <a:latin typeface="Arial"/>
              </a:rPr>
              <a:t>Conduct</a:t>
            </a:r>
            <a:endParaRPr lang="en-US"/>
          </a:p>
        </p:txBody>
      </p:sp>
      <p:sp>
        <p:nvSpPr>
          <p:cNvPr id="5" name="Rectangle 4">
            <a:extLst>
              <a:ext uri="{FF2B5EF4-FFF2-40B4-BE49-F238E27FC236}">
                <a16:creationId xmlns:a16="http://schemas.microsoft.com/office/drawing/2014/main" id="{5F3FA141-5BBB-3B6A-2610-F8ED30ACC848}"/>
              </a:ext>
            </a:extLst>
          </p:cNvPr>
          <p:cNvSpPr/>
          <p:nvPr/>
        </p:nvSpPr>
        <p:spPr>
          <a:xfrm>
            <a:off x="822960" y="6382512"/>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1FE7C59-5C77-2DCC-6329-85A2CD3A5613}"/>
              </a:ext>
            </a:extLst>
          </p:cNvPr>
          <p:cNvSpPr txBox="1"/>
          <p:nvPr/>
        </p:nvSpPr>
        <p:spPr>
          <a:xfrm>
            <a:off x="822960" y="6455664"/>
            <a:ext cx="4572000" cy="182880"/>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850" b="0" i="0">
                <a:solidFill>
                  <a:srgbClr val="9B9B9B"/>
                </a:solidFill>
                <a:latin typeface="Arial"/>
              </a:rPr>
              <a:t>CAP 6938  ·  AI Knowledge Systems</a:t>
            </a:r>
          </a:p>
        </p:txBody>
      </p:sp>
      <p:sp>
        <p:nvSpPr>
          <p:cNvPr id="7" name="TextBox 6">
            <a:extLst>
              <a:ext uri="{FF2B5EF4-FFF2-40B4-BE49-F238E27FC236}">
                <a16:creationId xmlns:a16="http://schemas.microsoft.com/office/drawing/2014/main" id="{2FC412B4-2358-FEE1-78D3-5EBE87414D76}"/>
              </a:ext>
            </a:extLst>
          </p:cNvPr>
          <p:cNvSpPr txBox="1"/>
          <p:nvPr/>
        </p:nvSpPr>
        <p:spPr>
          <a:xfrm>
            <a:off x="7711135" y="6455664"/>
            <a:ext cx="3657600" cy="182880"/>
          </a:xfrm>
          <a:prstGeom prst="rect">
            <a:avLst/>
          </a:prstGeom>
          <a:noFill/>
        </p:spPr>
        <p:txBody>
          <a:bodyPr wrap="square" lIns="18288" tIns="18288" rIns="18288" bIns="18288" anchor="t">
            <a:spAutoFit/>
          </a:bodyPr>
          <a:lstStyle/>
          <a:p>
            <a:pPr algn="r">
              <a:lnSpc>
                <a:spcPct val="100000"/>
              </a:lnSpc>
              <a:spcBef>
                <a:spcPts val="0"/>
              </a:spcBef>
              <a:spcAft>
                <a:spcPts val="0"/>
              </a:spcAft>
            </a:pPr>
            <a:r>
              <a:rPr sz="850" b="0" i="0">
                <a:solidFill>
                  <a:srgbClr val="9B9B9B"/>
                </a:solidFill>
                <a:latin typeface="Arial"/>
              </a:rPr>
              <a:t>Lecture 01  ·  18</a:t>
            </a:r>
          </a:p>
        </p:txBody>
      </p:sp>
      <p:sp>
        <p:nvSpPr>
          <p:cNvPr id="30" name="TextBox 29">
            <a:extLst>
              <a:ext uri="{FF2B5EF4-FFF2-40B4-BE49-F238E27FC236}">
                <a16:creationId xmlns:a16="http://schemas.microsoft.com/office/drawing/2014/main" id="{3696F2B6-23E3-AEB3-8CE3-64E067C0CD37}"/>
              </a:ext>
            </a:extLst>
          </p:cNvPr>
          <p:cNvSpPr txBox="1"/>
          <p:nvPr/>
        </p:nvSpPr>
        <p:spPr>
          <a:xfrm>
            <a:off x="822960" y="2450591"/>
            <a:ext cx="10545775" cy="3742115"/>
          </a:xfrm>
          <a:prstGeom prst="rect">
            <a:avLst/>
          </a:prstGeom>
          <a:noFill/>
        </p:spPr>
        <p:txBody>
          <a:bodyPr wrap="square" lIns="18288" tIns="18288" rIns="18288" bIns="18288" anchor="t">
            <a:spAutoFit/>
          </a:bodyPr>
          <a:lstStyle/>
          <a:p>
            <a:pPr marL="219075" indent="-219075">
              <a:lnSpc>
                <a:spcPct val="110000"/>
              </a:lnSpc>
            </a:pPr>
            <a:r>
              <a:rPr sz="2000" b="0" dirty="0">
                <a:solidFill>
                  <a:srgbClr val="1F1F1F"/>
                </a:solidFill>
                <a:latin typeface="Arial"/>
              </a:rPr>
              <a:t>–  </a:t>
            </a:r>
            <a:r>
              <a:rPr lang="en-US" sz="2000" dirty="0">
                <a:solidFill>
                  <a:srgbClr val="1F1F1F"/>
                </a:solidFill>
                <a:latin typeface="Arial"/>
              </a:rPr>
              <a:t>Both regular assignments and semester project as well as literature review assignments </a:t>
            </a:r>
            <a:r>
              <a:rPr lang="en-US" sz="2000">
                <a:solidFill>
                  <a:srgbClr val="1F1F1F"/>
                </a:solidFill>
                <a:latin typeface="Arial"/>
              </a:rPr>
              <a:t>are individual</a:t>
            </a:r>
          </a:p>
          <a:p>
            <a:pPr marL="219075" indent="-219075">
              <a:lnSpc>
                <a:spcPct val="110000"/>
              </a:lnSpc>
            </a:pPr>
            <a:endParaRPr lang="en-US" sz="2000" dirty="0">
              <a:solidFill>
                <a:srgbClr val="1F1F1F"/>
              </a:solidFill>
              <a:latin typeface="Arial"/>
              <a:cs typeface="Arial"/>
            </a:endParaRPr>
          </a:p>
          <a:p>
            <a:pPr marL="219075" indent="-219075">
              <a:lnSpc>
                <a:spcPct val="110000"/>
              </a:lnSpc>
            </a:pPr>
            <a:r>
              <a:rPr lang="en-US" sz="2000">
                <a:solidFill>
                  <a:srgbClr val="1F1F1F"/>
                </a:solidFill>
                <a:latin typeface="Arial"/>
                <a:cs typeface="Arial"/>
              </a:rPr>
              <a:t>– Rule 1: Do your assignments YOURSELF</a:t>
            </a:r>
          </a:p>
          <a:p>
            <a:pPr marL="219075" indent="-219075">
              <a:lnSpc>
                <a:spcPct val="110000"/>
              </a:lnSpc>
            </a:pPr>
            <a:endParaRPr lang="en-US" sz="2000" dirty="0">
              <a:solidFill>
                <a:srgbClr val="1F1F1F"/>
              </a:solidFill>
              <a:latin typeface="Arial"/>
              <a:cs typeface="Arial"/>
            </a:endParaRPr>
          </a:p>
          <a:p>
            <a:pPr marL="219075" indent="-219075">
              <a:lnSpc>
                <a:spcPct val="110000"/>
              </a:lnSpc>
            </a:pPr>
            <a:r>
              <a:rPr lang="en-US" sz="2000">
                <a:solidFill>
                  <a:srgbClr val="1F1F1F"/>
                </a:solidFill>
                <a:latin typeface="Arial"/>
                <a:cs typeface="Arial"/>
              </a:rPr>
              <a:t>– Rule 2: Do not get together to do assignments</a:t>
            </a:r>
          </a:p>
          <a:p>
            <a:pPr marL="219075" indent="-219075">
              <a:lnSpc>
                <a:spcPct val="110000"/>
              </a:lnSpc>
            </a:pPr>
            <a:endParaRPr lang="en-US" sz="2000" dirty="0">
              <a:solidFill>
                <a:srgbClr val="1F1F1F"/>
              </a:solidFill>
              <a:latin typeface="Arial"/>
              <a:cs typeface="Arial"/>
            </a:endParaRPr>
          </a:p>
          <a:p>
            <a:pPr marL="219075" indent="-219075">
              <a:lnSpc>
                <a:spcPct val="110000"/>
              </a:lnSpc>
            </a:pPr>
            <a:r>
              <a:rPr lang="en-US" sz="2000">
                <a:solidFill>
                  <a:srgbClr val="1F1F1F"/>
                </a:solidFill>
                <a:latin typeface="Arial"/>
                <a:cs typeface="Arial"/>
              </a:rPr>
              <a:t>– Rule 3: Do not share information</a:t>
            </a:r>
            <a:endParaRPr lang="en-US">
              <a:solidFill>
                <a:srgbClr val="000000"/>
              </a:solidFill>
              <a:latin typeface="Calibri"/>
              <a:ea typeface="Calibri"/>
              <a:cs typeface="Calibri"/>
            </a:endParaRPr>
          </a:p>
          <a:p>
            <a:pPr marL="219075" indent="-219075">
              <a:lnSpc>
                <a:spcPct val="110000"/>
              </a:lnSpc>
            </a:pPr>
            <a:endParaRPr lang="en-US" sz="2000" dirty="0">
              <a:solidFill>
                <a:srgbClr val="1F1F1F"/>
              </a:solidFill>
              <a:latin typeface="Arial"/>
              <a:ea typeface="Calibri"/>
              <a:cs typeface="Arial"/>
            </a:endParaRPr>
          </a:p>
          <a:p>
            <a:pPr marL="219075" indent="-219075">
              <a:lnSpc>
                <a:spcPct val="110000"/>
              </a:lnSpc>
            </a:pPr>
            <a:r>
              <a:rPr lang="en-US" sz="2000">
                <a:solidFill>
                  <a:srgbClr val="1F1F1F"/>
                </a:solidFill>
                <a:latin typeface="Arial"/>
                <a:ea typeface="Calibri"/>
                <a:cs typeface="Arial"/>
              </a:rPr>
              <a:t>– Rule 4: You can use any AI tools, except, to generate a whole 8-page paper from scratch but you can use it to refine your handwritten report</a:t>
            </a:r>
            <a:endParaRPr lang="en-US"/>
          </a:p>
        </p:txBody>
      </p:sp>
    </p:spTree>
    <p:extLst>
      <p:ext uri="{BB962C8B-B14F-4D97-AF65-F5344CB8AC3E}">
        <p14:creationId xmlns:p14="http://schemas.microsoft.com/office/powerpoint/2010/main" val="3458416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LECTURE OUTLINE</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Discussion outline</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Four parts organize today's introduction.</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02  /  18</a:t>
            </a:r>
          </a:p>
        </p:txBody>
      </p:sp>
      <p:sp>
        <p:nvSpPr>
          <p:cNvPr id="9" name="TextBox 8"/>
          <p:cNvSpPr txBox="1"/>
          <p:nvPr/>
        </p:nvSpPr>
        <p:spPr>
          <a:xfrm>
            <a:off x="658368" y="2139696"/>
            <a:ext cx="1087495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DISCUSSION</a:t>
            </a:r>
          </a:p>
        </p:txBody>
      </p:sp>
      <p:sp>
        <p:nvSpPr>
          <p:cNvPr id="10" name="Rectangle 9"/>
          <p:cNvSpPr/>
          <p:nvPr/>
        </p:nvSpPr>
        <p:spPr>
          <a:xfrm>
            <a:off x="658368" y="2395728"/>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10874959" cy="1036887"/>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Why knowledge systems matter in widely used AI products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The eight technical topics and how they connect</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Course structure, grading, paper presentation, and final project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MOTIVATION</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Why this course now</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Knowledge systems shape information access, work, and content discovery.</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03  /  18</a:t>
            </a:r>
          </a:p>
        </p:txBody>
      </p:sp>
      <p:sp>
        <p:nvSpPr>
          <p:cNvPr id="9" name="TextBox 8"/>
          <p:cNvSpPr txBox="1"/>
          <p:nvPr/>
        </p:nvSpPr>
        <p:spPr>
          <a:xfrm>
            <a:off x="658368" y="2139696"/>
            <a:ext cx="1087495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DISCUSSION</a:t>
            </a:r>
          </a:p>
        </p:txBody>
      </p:sp>
      <p:sp>
        <p:nvSpPr>
          <p:cNvPr id="10" name="Rectangle 9"/>
          <p:cNvSpPr/>
          <p:nvPr/>
        </p:nvSpPr>
        <p:spPr>
          <a:xfrm>
            <a:off x="658368" y="2395728"/>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10874959" cy="1443152"/>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RAG assistants search a document collection at question time and answer from what they retrieve.</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Coding agents such as Codex combine trained knowledge with repository files, tools, and test results.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Instagram, TikTok, and RedNote rank posts into personalized feeds.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All three share a store, a way to access it, and a model that acts.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FRAMING</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Three products, one systems pattern</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The same four stages: stored knowledge, access, output, feedback.</a:t>
            </a:r>
          </a:p>
        </p:txBody>
      </p:sp>
      <p:sp>
        <p:nvSpPr>
          <p:cNvPr id="6" name="TextBox 5"/>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7" name="TextBox 6"/>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04  /  18</a:t>
            </a:r>
          </a:p>
        </p:txBody>
      </p:sp>
      <p:sp>
        <p:nvSpPr>
          <p:cNvPr id="8" name="Rectangle 7"/>
          <p:cNvSpPr/>
          <p:nvPr/>
        </p:nvSpPr>
        <p:spPr>
          <a:xfrm>
            <a:off x="658368" y="2066543"/>
            <a:ext cx="10874959"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2185415"/>
            <a:ext cx="1608268" cy="183127"/>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50" b="1" i="0" spc="90">
                <a:solidFill>
                  <a:srgbClr val="20232A"/>
                </a:solidFill>
                <a:latin typeface="Helvetica Neue"/>
              </a:rPr>
              <a:t>SYSTEM</a:t>
            </a:r>
          </a:p>
        </p:txBody>
      </p:sp>
      <p:sp>
        <p:nvSpPr>
          <p:cNvPr id="10" name="TextBox 9"/>
          <p:cNvSpPr txBox="1"/>
          <p:nvPr/>
        </p:nvSpPr>
        <p:spPr>
          <a:xfrm>
            <a:off x="2486092" y="2185415"/>
            <a:ext cx="2110892" cy="183127"/>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50" b="1" i="0" spc="90">
                <a:solidFill>
                  <a:srgbClr val="20232A"/>
                </a:solidFill>
                <a:latin typeface="Helvetica Neue"/>
              </a:rPr>
              <a:t>STORED KNOWLEDGE</a:t>
            </a:r>
          </a:p>
        </p:txBody>
      </p:sp>
      <p:sp>
        <p:nvSpPr>
          <p:cNvPr id="11" name="TextBox 10"/>
          <p:cNvSpPr txBox="1"/>
          <p:nvPr/>
        </p:nvSpPr>
        <p:spPr>
          <a:xfrm>
            <a:off x="4816440" y="2185415"/>
            <a:ext cx="2019506" cy="183127"/>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50" b="1" i="0" spc="90">
                <a:solidFill>
                  <a:srgbClr val="20232A"/>
                </a:solidFill>
                <a:latin typeface="Helvetica Neue"/>
              </a:rPr>
              <a:t>ACCESS</a:t>
            </a:r>
          </a:p>
        </p:txBody>
      </p:sp>
      <p:sp>
        <p:nvSpPr>
          <p:cNvPr id="12" name="TextBox 11"/>
          <p:cNvSpPr txBox="1"/>
          <p:nvPr/>
        </p:nvSpPr>
        <p:spPr>
          <a:xfrm>
            <a:off x="7055402" y="2185415"/>
            <a:ext cx="2019506" cy="183127"/>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50" b="1" i="0" spc="90">
                <a:solidFill>
                  <a:srgbClr val="20232A"/>
                </a:solidFill>
                <a:latin typeface="Helvetica Neue"/>
              </a:rPr>
              <a:t>OUTPUT</a:t>
            </a:r>
          </a:p>
        </p:txBody>
      </p:sp>
      <p:sp>
        <p:nvSpPr>
          <p:cNvPr id="13" name="TextBox 12"/>
          <p:cNvSpPr txBox="1"/>
          <p:nvPr/>
        </p:nvSpPr>
        <p:spPr>
          <a:xfrm>
            <a:off x="9294365" y="2185415"/>
            <a:ext cx="2019506" cy="183127"/>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50" b="1" i="0" spc="90">
                <a:solidFill>
                  <a:srgbClr val="20232A"/>
                </a:solidFill>
                <a:latin typeface="Helvetica Neue"/>
              </a:rPr>
              <a:t>FEEDBACK</a:t>
            </a:r>
          </a:p>
        </p:txBody>
      </p:sp>
      <p:sp>
        <p:nvSpPr>
          <p:cNvPr id="14" name="Rectangle 13"/>
          <p:cNvSpPr/>
          <p:nvPr/>
        </p:nvSpPr>
        <p:spPr>
          <a:xfrm>
            <a:off x="658368" y="2468879"/>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 y="2578608"/>
            <a:ext cx="1608268" cy="383054"/>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20232A"/>
                </a:solidFill>
                <a:latin typeface="Helvetica Neue"/>
              </a:rPr>
              <a:t>RAG assistant (e.g. AI Chatbot)</a:t>
            </a:r>
          </a:p>
        </p:txBody>
      </p:sp>
      <p:sp>
        <p:nvSpPr>
          <p:cNvPr id="16" name="TextBox 15"/>
          <p:cNvSpPr txBox="1"/>
          <p:nvPr/>
        </p:nvSpPr>
        <p:spPr>
          <a:xfrm>
            <a:off x="2486092" y="2578608"/>
            <a:ext cx="2110892"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documents; databases</a:t>
            </a:r>
          </a:p>
        </p:txBody>
      </p:sp>
      <p:sp>
        <p:nvSpPr>
          <p:cNvPr id="17" name="TextBox 16"/>
          <p:cNvSpPr txBox="1"/>
          <p:nvPr/>
        </p:nvSpPr>
        <p:spPr>
          <a:xfrm>
            <a:off x="4816440" y="2578608"/>
            <a:ext cx="2019506"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retrieve evidence</a:t>
            </a:r>
          </a:p>
        </p:txBody>
      </p:sp>
      <p:sp>
        <p:nvSpPr>
          <p:cNvPr id="18" name="TextBox 17"/>
          <p:cNvSpPr txBox="1"/>
          <p:nvPr/>
        </p:nvSpPr>
        <p:spPr>
          <a:xfrm>
            <a:off x="7055402" y="2578608"/>
            <a:ext cx="2019506"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answer citing its sources</a:t>
            </a:r>
          </a:p>
        </p:txBody>
      </p:sp>
      <p:sp>
        <p:nvSpPr>
          <p:cNvPr id="19" name="TextBox 18"/>
          <p:cNvSpPr txBox="1"/>
          <p:nvPr/>
        </p:nvSpPr>
        <p:spPr>
          <a:xfrm>
            <a:off x="9294365" y="2578608"/>
            <a:ext cx="2019506"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clicks; corrections</a:t>
            </a:r>
          </a:p>
        </p:txBody>
      </p:sp>
      <p:sp>
        <p:nvSpPr>
          <p:cNvPr id="20" name="Rectangle 19"/>
          <p:cNvSpPr/>
          <p:nvPr/>
        </p:nvSpPr>
        <p:spPr>
          <a:xfrm>
            <a:off x="658368" y="3310127"/>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3419856"/>
            <a:ext cx="1608268" cy="383054"/>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20232A"/>
                </a:solidFill>
                <a:latin typeface="Helvetica Neue"/>
              </a:rPr>
              <a:t>AI agent (e.g. Codex/Claude Code)</a:t>
            </a:r>
          </a:p>
        </p:txBody>
      </p:sp>
      <p:sp>
        <p:nvSpPr>
          <p:cNvPr id="22" name="TextBox 21"/>
          <p:cNvSpPr txBox="1"/>
          <p:nvPr/>
        </p:nvSpPr>
        <p:spPr>
          <a:xfrm>
            <a:off x="2486092" y="3419856"/>
            <a:ext cx="2110892"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model; repository; tools</a:t>
            </a:r>
          </a:p>
        </p:txBody>
      </p:sp>
      <p:sp>
        <p:nvSpPr>
          <p:cNvPr id="23" name="TextBox 22"/>
          <p:cNvSpPr txBox="1"/>
          <p:nvPr/>
        </p:nvSpPr>
        <p:spPr>
          <a:xfrm>
            <a:off x="4816440" y="3419856"/>
            <a:ext cx="2019506" cy="383054"/>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load files and history; choose tool</a:t>
            </a:r>
          </a:p>
        </p:txBody>
      </p:sp>
      <p:sp>
        <p:nvSpPr>
          <p:cNvPr id="24" name="TextBox 23"/>
          <p:cNvSpPr txBox="1"/>
          <p:nvPr/>
        </p:nvSpPr>
        <p:spPr>
          <a:xfrm>
            <a:off x="7055402" y="3419856"/>
            <a:ext cx="2019506"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action or artifact</a:t>
            </a:r>
          </a:p>
        </p:txBody>
      </p:sp>
      <p:sp>
        <p:nvSpPr>
          <p:cNvPr id="25" name="TextBox 24"/>
          <p:cNvSpPr txBox="1"/>
          <p:nvPr/>
        </p:nvSpPr>
        <p:spPr>
          <a:xfrm>
            <a:off x="9294365" y="3419856"/>
            <a:ext cx="2019506"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tool result; tests</a:t>
            </a:r>
          </a:p>
        </p:txBody>
      </p:sp>
      <p:sp>
        <p:nvSpPr>
          <p:cNvPr id="26" name="Rectangle 25"/>
          <p:cNvSpPr/>
          <p:nvPr/>
        </p:nvSpPr>
        <p:spPr>
          <a:xfrm>
            <a:off x="658368" y="4151376"/>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 y="4261104"/>
            <a:ext cx="1608268" cy="383054"/>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20232A"/>
                </a:solidFill>
                <a:latin typeface="Helvetica Neue"/>
              </a:rPr>
              <a:t>Recommender (e.g. Instagram, TikTok)</a:t>
            </a:r>
          </a:p>
        </p:txBody>
      </p:sp>
      <p:sp>
        <p:nvSpPr>
          <p:cNvPr id="28" name="TextBox 27"/>
          <p:cNvSpPr txBox="1"/>
          <p:nvPr/>
        </p:nvSpPr>
        <p:spPr>
          <a:xfrm>
            <a:off x="2486092" y="4261104"/>
            <a:ext cx="2110892"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catalog; user history</a:t>
            </a:r>
          </a:p>
        </p:txBody>
      </p:sp>
      <p:sp>
        <p:nvSpPr>
          <p:cNvPr id="29" name="TextBox 28"/>
          <p:cNvSpPr txBox="1"/>
          <p:nvPr/>
        </p:nvSpPr>
        <p:spPr>
          <a:xfrm>
            <a:off x="4816440" y="4261104"/>
            <a:ext cx="2019506"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retrieve and rank</a:t>
            </a:r>
          </a:p>
        </p:txBody>
      </p:sp>
      <p:sp>
        <p:nvSpPr>
          <p:cNvPr id="30" name="TextBox 29"/>
          <p:cNvSpPr txBox="1"/>
          <p:nvPr/>
        </p:nvSpPr>
        <p:spPr>
          <a:xfrm>
            <a:off x="7055402" y="4261104"/>
            <a:ext cx="2019506"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personalized feed</a:t>
            </a:r>
          </a:p>
        </p:txBody>
      </p:sp>
      <p:sp>
        <p:nvSpPr>
          <p:cNvPr id="31" name="TextBox 30"/>
          <p:cNvSpPr txBox="1"/>
          <p:nvPr/>
        </p:nvSpPr>
        <p:spPr>
          <a:xfrm>
            <a:off x="9294365" y="4261104"/>
            <a:ext cx="2019506"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views; skips; likes</a:t>
            </a:r>
          </a:p>
        </p:txBody>
      </p:sp>
      <p:sp>
        <p:nvSpPr>
          <p:cNvPr id="32" name="Rectangle 31"/>
          <p:cNvSpPr/>
          <p:nvPr/>
        </p:nvSpPr>
        <p:spPr>
          <a:xfrm>
            <a:off x="658368" y="4992624"/>
            <a:ext cx="10874959"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FRAMING</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A working definition</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An AI knowledge system connects stored state to task-relevant behavior.</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05  /  18</a:t>
            </a:r>
          </a:p>
        </p:txBody>
      </p:sp>
      <p:sp>
        <p:nvSpPr>
          <p:cNvPr id="9" name="TextBox 8"/>
          <p:cNvSpPr txBox="1"/>
          <p:nvPr/>
        </p:nvSpPr>
        <p:spPr>
          <a:xfrm>
            <a:off x="658368" y="2139696"/>
            <a:ext cx="1087495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DISCUSSION</a:t>
            </a:r>
          </a:p>
        </p:txBody>
      </p:sp>
      <p:sp>
        <p:nvSpPr>
          <p:cNvPr id="10" name="Rectangle 9"/>
          <p:cNvSpPr/>
          <p:nvPr/>
        </p:nvSpPr>
        <p:spPr>
          <a:xfrm>
            <a:off x="658368" y="2395728"/>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10874959" cy="1443152"/>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Stores are parametric (in the weights), external (documents, indexes, databases), structured (tables or graphs with a schema), or mixed.</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Access: a forward pass reads the weights; vector search, database queries, graph traversal, or tool calls read external stores.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Use: generation, reasoning, ranking, prediction, or action.</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Update: records, indexes, user state, prompts, or model parameters.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FRAMING</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Where knowledge lives</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Modern systems usually combine multiple stores.</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06  /  18</a:t>
            </a:r>
          </a:p>
        </p:txBody>
      </p:sp>
      <p:sp>
        <p:nvSpPr>
          <p:cNvPr id="9" name="TextBox 8"/>
          <p:cNvSpPr txBox="1"/>
          <p:nvPr/>
        </p:nvSpPr>
        <p:spPr>
          <a:xfrm>
            <a:off x="658368" y="2139696"/>
            <a:ext cx="511743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INSIDE THE MODEL</a:t>
            </a:r>
          </a:p>
        </p:txBody>
      </p:sp>
      <p:sp>
        <p:nvSpPr>
          <p:cNvPr id="10" name="Rectangle 9"/>
          <p:cNvSpPr/>
          <p:nvPr/>
        </p:nvSpPr>
        <p:spPr>
          <a:xfrm>
            <a:off x="658368" y="2395728"/>
            <a:ext cx="51174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5117439" cy="1646285"/>
          </a:xfrm>
          <a:prstGeom prst="rect">
            <a:avLst/>
          </a:prstGeom>
          <a:noFill/>
        </p:spPr>
        <p:txBody>
          <a:bodyPr wrap="square" lIns="18288" tIns="18288" rIns="18288" bIns="18288" anchor="t">
            <a:spAutoFit/>
          </a:bodyPr>
          <a:lstStyle/>
          <a:p>
            <a:pPr marL="219456" indent="-219456">
              <a:lnSpc>
                <a:spcPct val="110000"/>
              </a:lnSpc>
              <a:spcAft>
                <a:spcPts val="0"/>
              </a:spcAft>
            </a:pPr>
            <a:r>
              <a:rPr lang="en-US" sz="1200" b="0">
                <a:solidFill>
                  <a:srgbClr val="535A67"/>
                </a:solidFill>
                <a:latin typeface="Helvetica Neue"/>
              </a:rPr>
              <a:t>–  Weights (fixed once training ends) encode patterns and skills from the training data.</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Embeddings (fixed-length vectors per input) are compact and shaped by the training task.</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Fast to read (one forward pass), hard to edit one fact, and prone to hallucination (fluent but false).</a:t>
            </a:r>
          </a:p>
        </p:txBody>
      </p:sp>
      <p:sp>
        <p:nvSpPr>
          <p:cNvPr id="12" name="TextBox 11"/>
          <p:cNvSpPr txBox="1"/>
          <p:nvPr/>
        </p:nvSpPr>
        <p:spPr>
          <a:xfrm>
            <a:off x="6415887" y="2139696"/>
            <a:ext cx="511743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OUTSIDE THE MODEL</a:t>
            </a:r>
          </a:p>
        </p:txBody>
      </p:sp>
      <p:sp>
        <p:nvSpPr>
          <p:cNvPr id="13" name="Rectangle 12"/>
          <p:cNvSpPr/>
          <p:nvPr/>
        </p:nvSpPr>
        <p:spPr>
          <a:xfrm>
            <a:off x="6415887" y="2395728"/>
            <a:ext cx="51174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5887" y="2560320"/>
            <a:ext cx="5117439" cy="1646285"/>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Documents, indexes, databases, graphs, tools, and user state: each item addressable by name or key.</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Correct one record without retraining; each item carries its source and date.</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The cost: the system must build a query that finds the item, then read the evidence correctly.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FRAMING</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The knowledge lifecycle</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Six stages, in order. Each course topic strengthens one or more.</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07  /  18</a:t>
            </a:r>
          </a:p>
        </p:txBody>
      </p:sp>
      <p:sp>
        <p:nvSpPr>
          <p:cNvPr id="9" name="TextBox 8"/>
          <p:cNvSpPr txBox="1"/>
          <p:nvPr/>
        </p:nvSpPr>
        <p:spPr>
          <a:xfrm>
            <a:off x="658368" y="2139696"/>
            <a:ext cx="1087495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DISCUSSION</a:t>
            </a:r>
          </a:p>
        </p:txBody>
      </p:sp>
      <p:sp>
        <p:nvSpPr>
          <p:cNvPr id="10" name="Rectangle 9"/>
          <p:cNvSpPr/>
          <p:nvPr/>
        </p:nvSpPr>
        <p:spPr>
          <a:xfrm>
            <a:off x="658368" y="2395728"/>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10874959" cy="2255682"/>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1. Acquire data, records, interactions, and traces.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2. Represent information as vectors, graphs, rules, or parameters.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3. Store the representation and index it (a lookup that avoids scanning everything).</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4. Access what is relevant to the current input: retrieve, query, or read the weights.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5. Reason, generate, rank, or act with that state.</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6. Evaluate outcomes and update the system.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TOPICS</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Course map</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Eight blocks: representations (1-2), reasoning and access (3-5), ranking, action, updating (6-8).</a:t>
            </a:r>
          </a:p>
        </p:txBody>
      </p:sp>
      <p:sp>
        <p:nvSpPr>
          <p:cNvPr id="6" name="TextBox 5"/>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7" name="TextBox 6"/>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08  /  18</a:t>
            </a:r>
          </a:p>
        </p:txBody>
      </p:sp>
      <p:sp>
        <p:nvSpPr>
          <p:cNvPr id="8" name="Rectangle 7"/>
          <p:cNvSpPr/>
          <p:nvPr/>
        </p:nvSpPr>
        <p:spPr>
          <a:xfrm>
            <a:off x="658368" y="2066543"/>
            <a:ext cx="10874959"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2185415"/>
            <a:ext cx="347933" cy="183127"/>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50" b="1" i="0" spc="90">
                <a:solidFill>
                  <a:srgbClr val="20232A"/>
                </a:solidFill>
                <a:latin typeface="Helvetica Neue"/>
              </a:rPr>
              <a:t>#</a:t>
            </a:r>
          </a:p>
        </p:txBody>
      </p:sp>
      <p:sp>
        <p:nvSpPr>
          <p:cNvPr id="10" name="TextBox 9"/>
          <p:cNvSpPr txBox="1"/>
          <p:nvPr/>
        </p:nvSpPr>
        <p:spPr>
          <a:xfrm>
            <a:off x="1225757" y="2185415"/>
            <a:ext cx="2570207" cy="183127"/>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50" b="1" i="0" spc="90">
                <a:solidFill>
                  <a:srgbClr val="20232A"/>
                </a:solidFill>
                <a:latin typeface="Helvetica Neue"/>
              </a:rPr>
              <a:t>TOPIC</a:t>
            </a:r>
          </a:p>
        </p:txBody>
      </p:sp>
      <p:sp>
        <p:nvSpPr>
          <p:cNvPr id="11" name="TextBox 10"/>
          <p:cNvSpPr txBox="1"/>
          <p:nvPr/>
        </p:nvSpPr>
        <p:spPr>
          <a:xfrm>
            <a:off x="4015420" y="2185415"/>
            <a:ext cx="7298450" cy="183127"/>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50" b="1" i="0" spc="90">
                <a:solidFill>
                  <a:srgbClr val="20232A"/>
                </a:solidFill>
                <a:latin typeface="Helvetica Neue"/>
              </a:rPr>
              <a:t>REPRESENTATIVE METHODS</a:t>
            </a:r>
          </a:p>
        </p:txBody>
      </p:sp>
      <p:sp>
        <p:nvSpPr>
          <p:cNvPr id="12" name="Rectangle 11"/>
          <p:cNvSpPr/>
          <p:nvPr/>
        </p:nvSpPr>
        <p:spPr>
          <a:xfrm>
            <a:off x="658368" y="2468879"/>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578608"/>
            <a:ext cx="347933"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20232A"/>
                </a:solidFill>
                <a:latin typeface="Helvetica Neue"/>
              </a:rPr>
              <a:t>1</a:t>
            </a:r>
          </a:p>
        </p:txBody>
      </p:sp>
      <p:sp>
        <p:nvSpPr>
          <p:cNvPr id="14" name="TextBox 13"/>
          <p:cNvSpPr txBox="1"/>
          <p:nvPr/>
        </p:nvSpPr>
        <p:spPr>
          <a:xfrm>
            <a:off x="1225757" y="2578608"/>
            <a:ext cx="2570207"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Dense representation</a:t>
            </a:r>
          </a:p>
        </p:txBody>
      </p:sp>
      <p:sp>
        <p:nvSpPr>
          <p:cNvPr id="15" name="TextBox 14"/>
          <p:cNvSpPr txBox="1"/>
          <p:nvPr/>
        </p:nvSpPr>
        <p:spPr>
          <a:xfrm>
            <a:off x="4015420" y="2578608"/>
            <a:ext cx="7298450"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Contrastive learning; CLIP and SigLIP; multimodal LLM (MLLM) embedders; DINO</a:t>
            </a:r>
          </a:p>
        </p:txBody>
      </p:sp>
      <p:sp>
        <p:nvSpPr>
          <p:cNvPr id="16" name="Rectangle 15"/>
          <p:cNvSpPr/>
          <p:nvPr/>
        </p:nvSpPr>
        <p:spPr>
          <a:xfrm>
            <a:off x="658368" y="2914649"/>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3024377"/>
            <a:ext cx="347933"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20232A"/>
                </a:solidFill>
                <a:latin typeface="Helvetica Neue"/>
              </a:rPr>
              <a:t>2</a:t>
            </a:r>
          </a:p>
        </p:txBody>
      </p:sp>
      <p:sp>
        <p:nvSpPr>
          <p:cNvPr id="18" name="TextBox 17"/>
          <p:cNvSpPr txBox="1"/>
          <p:nvPr/>
        </p:nvSpPr>
        <p:spPr>
          <a:xfrm>
            <a:off x="1225757" y="3024377"/>
            <a:ext cx="2570207"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Knowledge graphs</a:t>
            </a:r>
          </a:p>
        </p:txBody>
      </p:sp>
      <p:sp>
        <p:nvSpPr>
          <p:cNvPr id="19" name="TextBox 18"/>
          <p:cNvSpPr txBox="1"/>
          <p:nvPr/>
        </p:nvSpPr>
        <p:spPr>
          <a:xfrm>
            <a:off x="4015420" y="3024377"/>
            <a:ext cx="7298450"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Triples and schemas; TransE, RotatE, ComplEx; NBFNet, Ultra, TRIX</a:t>
            </a:r>
          </a:p>
        </p:txBody>
      </p:sp>
      <p:sp>
        <p:nvSpPr>
          <p:cNvPr id="20" name="Rectangle 19"/>
          <p:cNvSpPr/>
          <p:nvPr/>
        </p:nvSpPr>
        <p:spPr>
          <a:xfrm>
            <a:off x="658368" y="3360419"/>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3470148"/>
            <a:ext cx="347933"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20232A"/>
                </a:solidFill>
                <a:latin typeface="Helvetica Neue"/>
              </a:rPr>
              <a:t>3</a:t>
            </a:r>
          </a:p>
        </p:txBody>
      </p:sp>
      <p:sp>
        <p:nvSpPr>
          <p:cNvPr id="22" name="TextBox 21"/>
          <p:cNvSpPr txBox="1"/>
          <p:nvPr/>
        </p:nvSpPr>
        <p:spPr>
          <a:xfrm>
            <a:off x="1225757" y="3470148"/>
            <a:ext cx="2570207"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Symbolic reasoning</a:t>
            </a:r>
          </a:p>
        </p:txBody>
      </p:sp>
      <p:sp>
        <p:nvSpPr>
          <p:cNvPr id="23" name="TextBox 22"/>
          <p:cNvSpPr txBox="1"/>
          <p:nvPr/>
        </p:nvSpPr>
        <p:spPr>
          <a:xfrm>
            <a:off x="4015420" y="3470148"/>
            <a:ext cx="7298450"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First-order logic; OBDD and SDD compilation; differentiable rules</a:t>
            </a:r>
          </a:p>
        </p:txBody>
      </p:sp>
      <p:sp>
        <p:nvSpPr>
          <p:cNvPr id="24" name="Rectangle 23"/>
          <p:cNvSpPr/>
          <p:nvPr/>
        </p:nvSpPr>
        <p:spPr>
          <a:xfrm>
            <a:off x="658368" y="3806189"/>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 y="3915918"/>
            <a:ext cx="347933"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20232A"/>
                </a:solidFill>
                <a:latin typeface="Helvetica Neue"/>
              </a:rPr>
              <a:t>4</a:t>
            </a:r>
          </a:p>
        </p:txBody>
      </p:sp>
      <p:sp>
        <p:nvSpPr>
          <p:cNvPr id="26" name="TextBox 25"/>
          <p:cNvSpPr txBox="1"/>
          <p:nvPr/>
        </p:nvSpPr>
        <p:spPr>
          <a:xfrm>
            <a:off x="1225757" y="3915918"/>
            <a:ext cx="2570207"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Retrieval</a:t>
            </a:r>
          </a:p>
        </p:txBody>
      </p:sp>
      <p:sp>
        <p:nvSpPr>
          <p:cNvPr id="27" name="TextBox 26"/>
          <p:cNvSpPr txBox="1"/>
          <p:nvPr/>
        </p:nvSpPr>
        <p:spPr>
          <a:xfrm>
            <a:off x="4015420" y="3915918"/>
            <a:ext cx="7298450"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Approximate nearest-neighbor (ANN) indexes and FAISS; ColBERT late interaction; quantization; rerankers</a:t>
            </a:r>
          </a:p>
        </p:txBody>
      </p:sp>
      <p:sp>
        <p:nvSpPr>
          <p:cNvPr id="28" name="Rectangle 27"/>
          <p:cNvSpPr/>
          <p:nvPr/>
        </p:nvSpPr>
        <p:spPr>
          <a:xfrm>
            <a:off x="658368" y="4251959"/>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4361688"/>
            <a:ext cx="347933"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20232A"/>
                </a:solidFill>
                <a:latin typeface="Helvetica Neue"/>
              </a:rPr>
              <a:t>5</a:t>
            </a:r>
          </a:p>
        </p:txBody>
      </p:sp>
      <p:sp>
        <p:nvSpPr>
          <p:cNvPr id="30" name="TextBox 29"/>
          <p:cNvSpPr txBox="1"/>
          <p:nvPr/>
        </p:nvSpPr>
        <p:spPr>
          <a:xfrm>
            <a:off x="1225757" y="4361688"/>
            <a:ext cx="2570207"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RAG</a:t>
            </a:r>
          </a:p>
        </p:txBody>
      </p:sp>
      <p:sp>
        <p:nvSpPr>
          <p:cNvPr id="31" name="TextBox 30"/>
          <p:cNvSpPr txBox="1"/>
          <p:nvPr/>
        </p:nvSpPr>
        <p:spPr>
          <a:xfrm>
            <a:off x="4015420" y="4361688"/>
            <a:ext cx="7298450"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Query-retrieve-generate; Self-RAG and CRAG; Search-R1; GraphRAG</a:t>
            </a:r>
          </a:p>
        </p:txBody>
      </p:sp>
      <p:sp>
        <p:nvSpPr>
          <p:cNvPr id="32" name="Rectangle 31"/>
          <p:cNvSpPr/>
          <p:nvPr/>
        </p:nvSpPr>
        <p:spPr>
          <a:xfrm>
            <a:off x="658368" y="4697729"/>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8368" y="4807457"/>
            <a:ext cx="347933"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20232A"/>
                </a:solidFill>
                <a:latin typeface="Helvetica Neue"/>
              </a:rPr>
              <a:t>6</a:t>
            </a:r>
          </a:p>
        </p:txBody>
      </p:sp>
      <p:sp>
        <p:nvSpPr>
          <p:cNvPr id="34" name="TextBox 33"/>
          <p:cNvSpPr txBox="1"/>
          <p:nvPr/>
        </p:nvSpPr>
        <p:spPr>
          <a:xfrm>
            <a:off x="1225757" y="4807457"/>
            <a:ext cx="2570207"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Recommendation</a:t>
            </a:r>
          </a:p>
        </p:txBody>
      </p:sp>
      <p:sp>
        <p:nvSpPr>
          <p:cNvPr id="35" name="TextBox 34"/>
          <p:cNvSpPr txBox="1"/>
          <p:nvPr/>
        </p:nvSpPr>
        <p:spPr>
          <a:xfrm>
            <a:off x="4015420" y="4807457"/>
            <a:ext cx="7298450"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Collaborative filtering; DLRM; SASRec and HSTU; generative recommenders</a:t>
            </a:r>
          </a:p>
        </p:txBody>
      </p:sp>
      <p:sp>
        <p:nvSpPr>
          <p:cNvPr id="36" name="Rectangle 35"/>
          <p:cNvSpPr/>
          <p:nvPr/>
        </p:nvSpPr>
        <p:spPr>
          <a:xfrm>
            <a:off x="658368" y="5143499"/>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8368" y="5253228"/>
            <a:ext cx="347933"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20232A"/>
                </a:solidFill>
                <a:latin typeface="Helvetica Neue"/>
              </a:rPr>
              <a:t>7</a:t>
            </a:r>
          </a:p>
        </p:txBody>
      </p:sp>
      <p:sp>
        <p:nvSpPr>
          <p:cNvPr id="38" name="TextBox 37"/>
          <p:cNvSpPr txBox="1"/>
          <p:nvPr/>
        </p:nvSpPr>
        <p:spPr>
          <a:xfrm>
            <a:off x="1225757" y="5253228"/>
            <a:ext cx="2570207"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AI agents</a:t>
            </a:r>
          </a:p>
        </p:txBody>
      </p:sp>
      <p:sp>
        <p:nvSpPr>
          <p:cNvPr id="39" name="TextBox 38"/>
          <p:cNvSpPr txBox="1"/>
          <p:nvPr/>
        </p:nvSpPr>
        <p:spPr>
          <a:xfrm>
            <a:off x="4015420" y="5253228"/>
            <a:ext cx="7298450"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Tool calling; ReAct and Toolformer; reinforcement learning for agents; CAMEL and MetaGPT</a:t>
            </a:r>
          </a:p>
        </p:txBody>
      </p:sp>
      <p:sp>
        <p:nvSpPr>
          <p:cNvPr id="40" name="Rectangle 39"/>
          <p:cNvSpPr/>
          <p:nvPr/>
        </p:nvSpPr>
        <p:spPr>
          <a:xfrm>
            <a:off x="658368" y="5589270"/>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8368" y="5698998"/>
            <a:ext cx="347933"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20232A"/>
                </a:solidFill>
                <a:latin typeface="Helvetica Neue"/>
              </a:rPr>
              <a:t>8</a:t>
            </a:r>
          </a:p>
        </p:txBody>
      </p:sp>
      <p:sp>
        <p:nvSpPr>
          <p:cNvPr id="42" name="TextBox 41"/>
          <p:cNvSpPr txBox="1"/>
          <p:nvPr/>
        </p:nvSpPr>
        <p:spPr>
          <a:xfrm>
            <a:off x="1225757" y="5698998"/>
            <a:ext cx="2570207"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Knowledge updating</a:t>
            </a:r>
          </a:p>
        </p:txBody>
      </p:sp>
      <p:sp>
        <p:nvSpPr>
          <p:cNvPr id="43" name="TextBox 42"/>
          <p:cNvSpPr txBox="1"/>
          <p:nvPr/>
        </p:nvSpPr>
        <p:spPr>
          <a:xfrm>
            <a:off x="4015420" y="5698998"/>
            <a:ext cx="7298450" cy="203645"/>
          </a:xfrm>
          <a:prstGeom prst="rect">
            <a:avLst/>
          </a:prstGeom>
          <a:noFill/>
        </p:spPr>
        <p:txBody>
          <a:bodyPr wrap="square" lIns="18288" tIns="18288" rIns="18288" bIns="18288" anchor="t">
            <a:spAutoFit/>
          </a:bodyPr>
          <a:lstStyle/>
          <a:p>
            <a:pPr algn="l">
              <a:lnSpc>
                <a:spcPct val="106000"/>
              </a:lnSpc>
              <a:spcBef>
                <a:spcPts val="0"/>
              </a:spcBef>
              <a:spcAft>
                <a:spcPts val="0"/>
              </a:spcAft>
            </a:pPr>
            <a:r>
              <a:rPr lang="en-US" sz="1100" b="0" i="0">
                <a:solidFill>
                  <a:srgbClr val="535A67"/>
                </a:solidFill>
                <a:latin typeface="Helvetica Neue"/>
              </a:rPr>
              <a:t>Continual learning; Knowledge Editing; conflict handling; Doc-to-LoRA (low-rank adapters)</a:t>
            </a:r>
          </a:p>
        </p:txBody>
      </p:sp>
      <p:sp>
        <p:nvSpPr>
          <p:cNvPr id="44" name="Rectangle 43"/>
          <p:cNvSpPr/>
          <p:nvPr/>
        </p:nvSpPr>
        <p:spPr>
          <a:xfrm>
            <a:off x="658368" y="6035040"/>
            <a:ext cx="10874959"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TOPICS</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Topic 1: Dense Knowledge Representation</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Encode text, images, and other inputs as vectors for similarity and transfer.</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09  /  18</a:t>
            </a:r>
          </a:p>
        </p:txBody>
      </p:sp>
      <p:sp>
        <p:nvSpPr>
          <p:cNvPr id="9" name="TextBox 8"/>
          <p:cNvSpPr txBox="1"/>
          <p:nvPr/>
        </p:nvSpPr>
        <p:spPr>
          <a:xfrm>
            <a:off x="658368" y="2139696"/>
            <a:ext cx="649224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CORE IDEAS</a:t>
            </a:r>
          </a:p>
        </p:txBody>
      </p:sp>
      <p:sp>
        <p:nvSpPr>
          <p:cNvPr id="10" name="Rectangle 9"/>
          <p:cNvSpPr/>
          <p:nvPr/>
        </p:nvSpPr>
        <p:spPr>
          <a:xfrm>
            <a:off x="658368" y="2395728"/>
            <a:ext cx="6492240"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6492240" cy="3474720"/>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Contrastive learning.</a:t>
            </a:r>
            <a:r>
              <a:rPr lang="en-US" sz="1200" b="0">
                <a:solidFill>
                  <a:srgbClr val="535A67"/>
                </a:solidFill>
                <a:latin typeface="Helvetica Neue"/>
              </a:rPr>
              <a:t> Contrastive training pulls matched pairs together and pushes others apart (InfoNCE; CLIP, SigLIP).</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Negative selection.</a:t>
            </a:r>
            <a:r>
              <a:rPr lang="en-US" sz="1200" b="0">
                <a:solidFill>
                  <a:srgbClr val="535A67"/>
                </a:solidFill>
                <a:latin typeface="Helvetica Neue"/>
              </a:rPr>
              <a:t> Negative selection (what each example is contrasted against) and false negatives (labelled wrong, actually correct).</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Encoder architecture.</a:t>
            </a:r>
            <a:r>
              <a:rPr lang="en-US" sz="1200" b="0">
                <a:solidFill>
                  <a:srgbClr val="535A67"/>
                </a:solidFill>
                <a:latin typeface="Helvetica Neue"/>
              </a:rPr>
              <a:t> Dual towers (one encoder per side) embed a collection once for reuse; unified embedders share one space across modalities.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Joint contrastive-generative training:</a:t>
            </a:r>
            <a:r>
              <a:rPr lang="en-US" sz="1200" b="0">
                <a:solidFill>
                  <a:srgbClr val="535A67"/>
                </a:solidFill>
                <a:latin typeface="Helvetica Neue"/>
              </a:rPr>
              <a:t> training both contrastive and text/image generation simultaneously.</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Visual self-supervision.</a:t>
            </a:r>
            <a:r>
              <a:rPr lang="en-US" sz="1200" b="0">
                <a:solidFill>
                  <a:srgbClr val="535A67"/>
                </a:solidFill>
                <a:latin typeface="Helvetica Neue"/>
              </a:rPr>
              <a:t> Self-supervised vision: match outputs across two crops of one image, no labels (DINO, versions 1-3), for low-level visual representations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Scaling the encoder.</a:t>
            </a:r>
            <a:r>
              <a:rPr lang="en-US" sz="1200" b="0">
                <a:solidFill>
                  <a:srgbClr val="535A67"/>
                </a:solidFill>
                <a:latin typeface="Helvetica Neue"/>
              </a:rPr>
              <a:t> Spend extra compute per embedding: think-then-embed (reason in text first), or mixture-of-experts routing.</a:t>
            </a:r>
          </a:p>
        </p:txBody>
      </p:sp>
      <p:sp>
        <p:nvSpPr>
          <p:cNvPr id="12" name="TextBox 11"/>
          <p:cNvSpPr txBox="1"/>
          <p:nvPr/>
        </p:nvSpPr>
        <p:spPr>
          <a:xfrm>
            <a:off x="7790688" y="2139696"/>
            <a:ext cx="374263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APPLICATIONS</a:t>
            </a:r>
          </a:p>
        </p:txBody>
      </p:sp>
      <p:sp>
        <p:nvSpPr>
          <p:cNvPr id="13" name="Rectangle 12"/>
          <p:cNvSpPr/>
          <p:nvPr/>
        </p:nvSpPr>
        <p:spPr>
          <a:xfrm>
            <a:off x="7790688" y="2395728"/>
            <a:ext cx="37426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90688" y="2560320"/>
            <a:ext cx="3742639" cy="1036887"/>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Multimodal search</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Candidate retrieval</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Feature transfer; image matching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TOPICS</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Topic 2: Knowledge Graphs and KG Learning</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Represent entities and relations explicitly, then learn predictions over graph structure.</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10  /  18</a:t>
            </a:r>
          </a:p>
        </p:txBody>
      </p:sp>
      <p:sp>
        <p:nvSpPr>
          <p:cNvPr id="9" name="TextBox 8"/>
          <p:cNvSpPr txBox="1"/>
          <p:nvPr/>
        </p:nvSpPr>
        <p:spPr>
          <a:xfrm>
            <a:off x="658368" y="2139696"/>
            <a:ext cx="649224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CORE IDEAS</a:t>
            </a:r>
          </a:p>
        </p:txBody>
      </p:sp>
      <p:sp>
        <p:nvSpPr>
          <p:cNvPr id="10" name="Rectangle 9"/>
          <p:cNvSpPr/>
          <p:nvPr/>
        </p:nvSpPr>
        <p:spPr>
          <a:xfrm>
            <a:off x="658368" y="2395728"/>
            <a:ext cx="6492240"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6492240" cy="2255682"/>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Graph representation.</a:t>
            </a:r>
            <a:r>
              <a:rPr lang="en-US" sz="1200" b="0">
                <a:solidFill>
                  <a:srgbClr val="535A67"/>
                </a:solidFill>
                <a:latin typeface="Helvetica Neue"/>
              </a:rPr>
              <a:t> Facts as triples (head, relation, tail): (Orlando, located_in, Florida). Schemas type relations; timestamps date them.</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Knowledge graph embedding.</a:t>
            </a:r>
            <a:r>
              <a:rPr lang="en-US" sz="1200" b="0">
                <a:solidFill>
                  <a:srgbClr val="535A67"/>
                </a:solidFill>
                <a:latin typeface="Helvetica Neue"/>
              </a:rPr>
              <a:t> Score missing edges from entity and relation vectors: TransE (translation), RotatE (rotation), ComplEx (complex product).</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Graph reasoning models.</a:t>
            </a:r>
            <a:r>
              <a:rPr lang="en-US" sz="1200" b="0">
                <a:solidFill>
                  <a:srgbClr val="535A67"/>
                </a:solidFill>
                <a:latin typeface="Helvetica Neue"/>
              </a:rPr>
              <a:t> Score from multi-hop paths (chains of edges), and transfer to unseen graphs (NBFNet, Ultra, TRIX).</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Neuro-symbolic and visual KGs.</a:t>
            </a:r>
            <a:r>
              <a:rPr lang="en-US" sz="1200" b="0">
                <a:solidFill>
                  <a:srgbClr val="535A67"/>
                </a:solidFill>
                <a:latin typeface="Helvetica Neue"/>
              </a:rPr>
              <a:t> Neuro-symbolic KGs add hand-written rules; visual KGs link nodes to the image regions that depict them.</a:t>
            </a:r>
          </a:p>
        </p:txBody>
      </p:sp>
      <p:sp>
        <p:nvSpPr>
          <p:cNvPr id="12" name="TextBox 11"/>
          <p:cNvSpPr txBox="1"/>
          <p:nvPr/>
        </p:nvSpPr>
        <p:spPr>
          <a:xfrm>
            <a:off x="7790688" y="2139696"/>
            <a:ext cx="374263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APPLICATIONS</a:t>
            </a:r>
          </a:p>
        </p:txBody>
      </p:sp>
      <p:sp>
        <p:nvSpPr>
          <p:cNvPr id="13" name="Rectangle 12"/>
          <p:cNvSpPr/>
          <p:nvPr/>
        </p:nvSpPr>
        <p:spPr>
          <a:xfrm>
            <a:off x="7790688" y="2395728"/>
            <a:ext cx="37426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90688" y="2560320"/>
            <a:ext cx="3742639" cy="630622"/>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Link, node, and graph-level prediction</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Graph facts in RAG prompts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TOPICS</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Topic 3: Symbolic and Neuro-Symbolic Reasoning</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Logic, rules, and compiled circuits, for hand-written and learned inference.</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11  /  18</a:t>
            </a:r>
          </a:p>
        </p:txBody>
      </p:sp>
      <p:sp>
        <p:nvSpPr>
          <p:cNvPr id="9" name="TextBox 8"/>
          <p:cNvSpPr txBox="1"/>
          <p:nvPr/>
        </p:nvSpPr>
        <p:spPr>
          <a:xfrm>
            <a:off x="658368" y="2139696"/>
            <a:ext cx="649224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CORE IDEAS</a:t>
            </a:r>
          </a:p>
        </p:txBody>
      </p:sp>
      <p:sp>
        <p:nvSpPr>
          <p:cNvPr id="10" name="Rectangle 9"/>
          <p:cNvSpPr/>
          <p:nvPr/>
        </p:nvSpPr>
        <p:spPr>
          <a:xfrm>
            <a:off x="658368" y="2395728"/>
            <a:ext cx="6492240"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6492240" cy="2255682"/>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Logical inference.</a:t>
            </a:r>
            <a:r>
              <a:rPr lang="en-US" sz="1200" b="0">
                <a:solidFill>
                  <a:srgbClr val="535A67"/>
                </a:solidFill>
                <a:latin typeface="Helvetica Neue"/>
              </a:rPr>
              <a:t> Derive facts by applying rules: unification (variables to terms), forward and backward chaining (facts to goal, goal to facts).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Knowledge compilation.</a:t>
            </a:r>
            <a:r>
              <a:rPr lang="en-US" sz="1200" b="0">
                <a:solidFill>
                  <a:srgbClr val="535A67"/>
                </a:solidFill>
                <a:latin typeface="Helvetica Neue"/>
              </a:rPr>
              <a:t> Compile the formula once into a circuit; query time is linear in its size (OBDD and SDD decision diagrams).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Probabilistic reasoning.</a:t>
            </a:r>
            <a:r>
              <a:rPr lang="en-US" sz="1200" b="0">
                <a:solidFill>
                  <a:srgbClr val="535A67"/>
                </a:solidFill>
                <a:latin typeface="Helvetica Neue"/>
              </a:rPr>
              <a:t> Attach probabilities to facts and rules; conclusions carry a probability, not a yes or no.</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Differentiable reasoning.</a:t>
            </a:r>
            <a:r>
              <a:rPr lang="en-US" sz="1200" b="0">
                <a:solidFill>
                  <a:srgbClr val="535A67"/>
                </a:solidFill>
                <a:latin typeface="Helvetica Neue"/>
              </a:rPr>
              <a:t> Relax hard logic to smooth operations so gradients flow and rules can be learned from data.</a:t>
            </a:r>
          </a:p>
        </p:txBody>
      </p:sp>
      <p:sp>
        <p:nvSpPr>
          <p:cNvPr id="12" name="TextBox 11"/>
          <p:cNvSpPr txBox="1"/>
          <p:nvPr/>
        </p:nvSpPr>
        <p:spPr>
          <a:xfrm>
            <a:off x="7790688" y="2139696"/>
            <a:ext cx="374263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APPLICATIONS</a:t>
            </a:r>
          </a:p>
        </p:txBody>
      </p:sp>
      <p:sp>
        <p:nvSpPr>
          <p:cNvPr id="13" name="Rectangle 12"/>
          <p:cNvSpPr/>
          <p:nvPr/>
        </p:nvSpPr>
        <p:spPr>
          <a:xfrm>
            <a:off x="7790688" y="2395728"/>
            <a:ext cx="37426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90688" y="2560320"/>
            <a:ext cx="3742639" cy="1036887"/>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Constraint checking</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Structured prediction</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Explainable multi-step inference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TOPICS</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Topic 4: Retrieval and Post-Retrieval</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Retrieval narrows a large collection to a few candidates; post-retrieval re-scores them.</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12  /  18</a:t>
            </a:r>
          </a:p>
        </p:txBody>
      </p:sp>
      <p:sp>
        <p:nvSpPr>
          <p:cNvPr id="9" name="TextBox 8"/>
          <p:cNvSpPr txBox="1"/>
          <p:nvPr/>
        </p:nvSpPr>
        <p:spPr>
          <a:xfrm>
            <a:off x="658368" y="2139696"/>
            <a:ext cx="649224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CORE IDEAS</a:t>
            </a:r>
          </a:p>
        </p:txBody>
      </p:sp>
      <p:sp>
        <p:nvSpPr>
          <p:cNvPr id="10" name="Rectangle 9"/>
          <p:cNvSpPr/>
          <p:nvPr/>
        </p:nvSpPr>
        <p:spPr>
          <a:xfrm>
            <a:off x="658368" y="2395728"/>
            <a:ext cx="6492240"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6492240" cy="2865080"/>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Similarity search.</a:t>
            </a:r>
            <a:r>
              <a:rPr lang="en-US" sz="1200" b="0">
                <a:solidFill>
                  <a:srgbClr val="535A67"/>
                </a:solidFill>
                <a:latin typeface="Helvetica Neue"/>
              </a:rPr>
              <a:t> Score candidates by dot product or cosine similarity (dot product on unit-length vectors), then sort.</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Approximate search.</a:t>
            </a:r>
            <a:r>
              <a:rPr lang="en-US" sz="1200" b="0">
                <a:solidFill>
                  <a:srgbClr val="535A67"/>
                </a:solidFill>
                <a:latin typeface="Helvetica Neue"/>
              </a:rPr>
              <a:t> Approximate nearest-neighbour (ANN) search returns close, not exact, matches: recall traded for speed (FAISS).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Late interaction.</a:t>
            </a:r>
            <a:r>
              <a:rPr lang="en-US" sz="1200" b="0">
                <a:solidFill>
                  <a:srgbClr val="535A67"/>
                </a:solidFill>
                <a:latin typeface="Helvetica Neue"/>
              </a:rPr>
              <a:t> Late interaction: one vector per token, compared only after both sides are encoded (ColBERT).</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Index compression.</a:t>
            </a:r>
            <a:r>
              <a:rPr lang="en-US" sz="1200" b="0">
                <a:solidFill>
                  <a:srgbClr val="535A67"/>
                </a:solidFill>
                <a:latin typeface="Helvetica Neue"/>
              </a:rPr>
              <a:t> Shrink the index at small cost in recall (share of relevant items returned): product quantization, truncatable Matryoshka vectors, sparse embeddings.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Reranking.</a:t>
            </a:r>
            <a:r>
              <a:rPr lang="en-US" sz="1200" b="0">
                <a:solidFill>
                  <a:srgbClr val="535A67"/>
                </a:solidFill>
                <a:latin typeface="Helvetica Neue"/>
              </a:rPr>
              <a:t> Re-rank only the top-k with a cross-encoder (reads query and candidate together), too costly corpus-wide.</a:t>
            </a:r>
          </a:p>
        </p:txBody>
      </p:sp>
      <p:sp>
        <p:nvSpPr>
          <p:cNvPr id="12" name="TextBox 11"/>
          <p:cNvSpPr txBox="1"/>
          <p:nvPr/>
        </p:nvSpPr>
        <p:spPr>
          <a:xfrm>
            <a:off x="7790688" y="2139696"/>
            <a:ext cx="374263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APPLICATIONS</a:t>
            </a:r>
          </a:p>
        </p:txBody>
      </p:sp>
      <p:sp>
        <p:nvSpPr>
          <p:cNvPr id="13" name="Rectangle 12"/>
          <p:cNvSpPr/>
          <p:nvPr/>
        </p:nvSpPr>
        <p:spPr>
          <a:xfrm>
            <a:off x="7790688" y="2395728"/>
            <a:ext cx="37426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90688" y="2560320"/>
            <a:ext cx="3742639" cy="1036887"/>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Web and enterprise search</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Candidate generation over large catalogs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Front end to RAG (Topic 5) and ranking (Topic 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TOPICS</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Topic 5: Retrieval-Augmented Generation</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Retrieve external evidence and use it to produce grounded, current responses.</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13  /  18</a:t>
            </a:r>
          </a:p>
        </p:txBody>
      </p:sp>
      <p:sp>
        <p:nvSpPr>
          <p:cNvPr id="9" name="TextBox 8"/>
          <p:cNvSpPr txBox="1"/>
          <p:nvPr/>
        </p:nvSpPr>
        <p:spPr>
          <a:xfrm>
            <a:off x="658368" y="2139696"/>
            <a:ext cx="649224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CORE IDEAS</a:t>
            </a:r>
          </a:p>
        </p:txBody>
      </p:sp>
      <p:sp>
        <p:nvSpPr>
          <p:cNvPr id="10" name="Rectangle 9"/>
          <p:cNvSpPr/>
          <p:nvPr/>
        </p:nvSpPr>
        <p:spPr>
          <a:xfrm>
            <a:off x="658368" y="2395728"/>
            <a:ext cx="6492240"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6492240" cy="2865080"/>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The RAG pipeline.</a:t>
            </a:r>
            <a:r>
              <a:rPr lang="en-US" sz="1200" b="0">
                <a:solidFill>
                  <a:srgbClr val="535A67"/>
                </a:solidFill>
                <a:latin typeface="Helvetica Neue"/>
              </a:rPr>
              <a:t> Retrieve passages into the model's input; each keeps its source, so answers can cite.</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Self-correcting retrieval.</a:t>
            </a:r>
            <a:r>
              <a:rPr lang="en-US" sz="1200" b="0">
                <a:solidFill>
                  <a:srgbClr val="535A67"/>
                </a:solidFill>
                <a:latin typeface="Helvetica Neue"/>
              </a:rPr>
              <a:t> Let the model decide whether to search and whether passages support an answer (Self-RAG, CRAG).</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RL-trained search.</a:t>
            </a:r>
            <a:r>
              <a:rPr lang="en-US" sz="1200" b="0">
                <a:solidFill>
                  <a:srgbClr val="535A67"/>
                </a:solidFill>
                <a:latin typeface="Helvetica Neue"/>
              </a:rPr>
              <a:t> Train search behaviour by reward on final-answer correctness, not prompting (Search-R1, DeepResearcher, Graph-R1).</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Structured retrieval.</a:t>
            </a:r>
            <a:r>
              <a:rPr lang="en-US" sz="1200" b="0">
                <a:solidFill>
                  <a:srgbClr val="535A67"/>
                </a:solidFill>
                <a:latin typeface="Helvetica Neue"/>
              </a:rPr>
              <a:t> Multi-document questions: retrieve over an entity graph or summary tree, not flat passages (GraphRAG, HippoRAG 2, RAPTOR).</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RAG inside agents.</a:t>
            </a:r>
            <a:r>
              <a:rPr lang="en-US" sz="1200" b="0">
                <a:solidFill>
                  <a:srgbClr val="535A67"/>
                </a:solidFill>
                <a:latin typeface="Helvetica Neue"/>
              </a:rPr>
              <a:t> RAG is a component: agents (Topic 7) call retrieval repeatedly within one task.</a:t>
            </a:r>
          </a:p>
        </p:txBody>
      </p:sp>
      <p:sp>
        <p:nvSpPr>
          <p:cNvPr id="12" name="TextBox 11"/>
          <p:cNvSpPr txBox="1"/>
          <p:nvPr/>
        </p:nvSpPr>
        <p:spPr>
          <a:xfrm>
            <a:off x="7790688" y="2139696"/>
            <a:ext cx="374263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APPLICATIONS</a:t>
            </a:r>
          </a:p>
        </p:txBody>
      </p:sp>
      <p:sp>
        <p:nvSpPr>
          <p:cNvPr id="13" name="Rectangle 12"/>
          <p:cNvSpPr/>
          <p:nvPr/>
        </p:nvSpPr>
        <p:spPr>
          <a:xfrm>
            <a:off x="7790688" y="2395728"/>
            <a:ext cx="37426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90688" y="2560320"/>
            <a:ext cx="3742639" cy="1036887"/>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Research assistants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Enterprise and domain Q&amp;A</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Citation-grounded generation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TOPICS</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Topic 6: Recommendation Systems</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Two stages: select candidates from a large catalog, then rank them per user.</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14  /  18</a:t>
            </a:r>
          </a:p>
        </p:txBody>
      </p:sp>
      <p:sp>
        <p:nvSpPr>
          <p:cNvPr id="9" name="TextBox 8"/>
          <p:cNvSpPr txBox="1"/>
          <p:nvPr/>
        </p:nvSpPr>
        <p:spPr>
          <a:xfrm>
            <a:off x="658368" y="2139696"/>
            <a:ext cx="649224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CORE IDEAS</a:t>
            </a:r>
          </a:p>
        </p:txBody>
      </p:sp>
      <p:sp>
        <p:nvSpPr>
          <p:cNvPr id="10" name="Rectangle 9"/>
          <p:cNvSpPr/>
          <p:nvPr/>
        </p:nvSpPr>
        <p:spPr>
          <a:xfrm>
            <a:off x="658368" y="2395728"/>
            <a:ext cx="6492240"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6492240" cy="2865080"/>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Collaborative filtering.</a:t>
            </a:r>
            <a:r>
              <a:rPr lang="en-US" sz="1200" b="0">
                <a:solidFill>
                  <a:srgbClr val="535A67"/>
                </a:solidFill>
                <a:latin typeface="Helvetica Neue"/>
              </a:rPr>
              <a:t> Predict from interaction history alone: matrix factorization (user-item dot product) with a ranking loss.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Deep recommendation.</a:t>
            </a:r>
            <a:r>
              <a:rPr lang="en-US" sz="1200" b="0">
                <a:solidFill>
                  <a:srgbClr val="535A67"/>
                </a:solidFill>
                <a:latin typeface="Helvetica Neue"/>
              </a:rPr>
              <a:t> Learn feature interactions, not independent features: DLRM uses per-feature embedding tables plus dense layers.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Sequential models.</a:t>
            </a:r>
            <a:r>
              <a:rPr lang="en-US" sz="1200" b="0">
                <a:solidFill>
                  <a:srgbClr val="535A67"/>
                </a:solidFill>
                <a:latin typeface="Helvetica Neue"/>
              </a:rPr>
              <a:t> Treat a user as an interaction sequence and predict the next item (SASRec; scaling recommenders with HSTU).</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Semantic item IDs.</a:t>
            </a:r>
            <a:r>
              <a:rPr lang="en-US" sz="1200" b="0">
                <a:solidFill>
                  <a:srgbClr val="535A67"/>
                </a:solidFill>
                <a:latin typeface="Helvetica Neue"/>
              </a:rPr>
              <a:t> Quantize item embeddings into short discrete codes an LLM can generate like words.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Reason-then-Recommend | Diffusion-based recommenders.</a:t>
            </a:r>
            <a:r>
              <a:rPr lang="en-US" sz="1200" b="0">
                <a:solidFill>
                  <a:srgbClr val="535A67"/>
                </a:solidFill>
                <a:latin typeface="Helvetica Neue"/>
              </a:rPr>
              <a:t> Generate CoT before recommendation; diffusion (e.g. flow-matching)-based recommenders.</a:t>
            </a:r>
          </a:p>
        </p:txBody>
      </p:sp>
      <p:sp>
        <p:nvSpPr>
          <p:cNvPr id="12" name="TextBox 11"/>
          <p:cNvSpPr txBox="1"/>
          <p:nvPr/>
        </p:nvSpPr>
        <p:spPr>
          <a:xfrm>
            <a:off x="7790688" y="2139696"/>
            <a:ext cx="374263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APPLICATIONS</a:t>
            </a:r>
          </a:p>
        </p:txBody>
      </p:sp>
      <p:sp>
        <p:nvSpPr>
          <p:cNvPr id="13" name="Rectangle 12"/>
          <p:cNvSpPr/>
          <p:nvPr/>
        </p:nvSpPr>
        <p:spPr>
          <a:xfrm>
            <a:off x="7790688" y="2395728"/>
            <a:ext cx="37426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90688" y="2560320"/>
            <a:ext cx="3742639" cy="1036887"/>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Social-media feeds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Video, music, and news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Products and advertisements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TOPICS</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Topic 7: AI Agents</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Combine language models with tools, context, memory, planning, and execution feedback.</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15  /  18</a:t>
            </a:r>
          </a:p>
        </p:txBody>
      </p:sp>
      <p:sp>
        <p:nvSpPr>
          <p:cNvPr id="9" name="TextBox 8"/>
          <p:cNvSpPr txBox="1"/>
          <p:nvPr/>
        </p:nvSpPr>
        <p:spPr>
          <a:xfrm>
            <a:off x="658368" y="2139696"/>
            <a:ext cx="649224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CORE IDEAS</a:t>
            </a:r>
          </a:p>
        </p:txBody>
      </p:sp>
      <p:sp>
        <p:nvSpPr>
          <p:cNvPr id="10" name="Rectangle 9"/>
          <p:cNvSpPr/>
          <p:nvPr/>
        </p:nvSpPr>
        <p:spPr>
          <a:xfrm>
            <a:off x="658368" y="2395728"/>
            <a:ext cx="6492240"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6492240" cy="2901500"/>
          </a:xfrm>
          <a:prstGeom prst="rect">
            <a:avLst/>
          </a:prstGeom>
          <a:noFill/>
        </p:spPr>
        <p:txBody>
          <a:bodyPr wrap="square" lIns="18288" tIns="18288" rIns="18288" bIns="18288">
            <a:spAutoFit/>
          </a:bodyPr>
          <a:lstStyle/>
          <a:p>
            <a:pPr marL="219456" indent="-219456">
              <a:lnSpc>
                <a:spcPct val="110000"/>
              </a:lnSpc>
              <a:spcAft>
                <a:spcPts val="0"/>
              </a:spcAft>
            </a:pPr>
            <a:r>
              <a:rPr lang="en-US" sz="1000" b="0">
                <a:solidFill>
                  <a:srgbClr val="535A67"/>
                </a:solidFill>
                <a:latin typeface="Helvetica Neue"/>
              </a:rPr>
              <a:t>–  </a:t>
            </a:r>
            <a:r>
              <a:rPr lang="en-US" sz="1000" b="1">
                <a:solidFill>
                  <a:srgbClr val="535A67"/>
                </a:solidFill>
                <a:latin typeface="Helvetica Neue"/>
              </a:rPr>
              <a:t>Tool use.</a:t>
            </a:r>
            <a:r>
              <a:rPr lang="en-US" sz="1000" b="0">
                <a:solidFill>
                  <a:srgbClr val="535A67"/>
                </a:solidFill>
                <a:latin typeface="Helvetica Neue"/>
              </a:rPr>
              <a:t> Expose tools as named functions with fixed argument schemas; the model emits structured calls.</a:t>
            </a:r>
          </a:p>
          <a:p>
            <a:pPr marL="219456" indent="-219456">
              <a:lnSpc>
                <a:spcPct val="110000"/>
              </a:lnSpc>
              <a:spcAft>
                <a:spcPts val="0"/>
              </a:spcAft>
            </a:pPr>
            <a:endParaRPr lang="en-US" sz="1000" b="0">
              <a:solidFill>
                <a:srgbClr val="535A67"/>
              </a:solidFill>
              <a:latin typeface="Helvetica Neue"/>
            </a:endParaRPr>
          </a:p>
          <a:p>
            <a:pPr marL="219456" indent="-219456">
              <a:lnSpc>
                <a:spcPct val="110000"/>
              </a:lnSpc>
              <a:spcAft>
                <a:spcPts val="0"/>
              </a:spcAft>
            </a:pPr>
            <a:r>
              <a:rPr lang="en-US" sz="1000" b="0">
                <a:solidFill>
                  <a:srgbClr val="535A67"/>
                </a:solidFill>
                <a:latin typeface="Helvetica Neue"/>
              </a:rPr>
              <a:t>–  </a:t>
            </a:r>
            <a:r>
              <a:rPr lang="en-US" sz="1000" b="1">
                <a:solidFill>
                  <a:srgbClr val="535A67"/>
                </a:solidFill>
                <a:latin typeface="Helvetica Neue"/>
              </a:rPr>
              <a:t>Reason-act loops.</a:t>
            </a:r>
            <a:r>
              <a:rPr lang="en-US" sz="1000" b="0">
                <a:solidFill>
                  <a:srgbClr val="535A67"/>
                </a:solidFill>
                <a:latin typeface="Helvetica Neue"/>
              </a:rPr>
              <a:t> Alternate reasoning and action so each tool result informs the next step (ReAct; Toolformer).</a:t>
            </a:r>
          </a:p>
          <a:p>
            <a:pPr marL="219456" indent="-219456">
              <a:lnSpc>
                <a:spcPct val="110000"/>
              </a:lnSpc>
              <a:spcAft>
                <a:spcPts val="0"/>
              </a:spcAft>
            </a:pPr>
            <a:endParaRPr lang="en-US" sz="1000" b="0">
              <a:solidFill>
                <a:srgbClr val="535A67"/>
              </a:solidFill>
              <a:latin typeface="Helvetica Neue"/>
            </a:endParaRPr>
          </a:p>
          <a:p>
            <a:pPr marL="219456" indent="-219456">
              <a:lnSpc>
                <a:spcPct val="110000"/>
              </a:lnSpc>
              <a:spcAft>
                <a:spcPts val="0"/>
              </a:spcAft>
            </a:pPr>
            <a:r>
              <a:rPr lang="en-US" sz="1000" b="0">
                <a:solidFill>
                  <a:srgbClr val="535A67"/>
                </a:solidFill>
                <a:latin typeface="Helvetica Neue"/>
              </a:rPr>
              <a:t>–  </a:t>
            </a:r>
            <a:r>
              <a:rPr lang="en-US" sz="1000" b="1">
                <a:solidFill>
                  <a:srgbClr val="535A67"/>
                </a:solidFill>
                <a:latin typeface="Helvetica Neue"/>
              </a:rPr>
              <a:t>Long context.</a:t>
            </a:r>
            <a:r>
              <a:rPr lang="en-US" sz="1000" b="0">
                <a:solidFill>
                  <a:srgbClr val="535A67"/>
                </a:solidFill>
                <a:latin typeface="Helvetica Neue"/>
              </a:rPr>
              <a:t> An agent's transcript grows without bound while attention cost grows with its square, so the window must be managed: evict all but the heavy hitters (H2O); keep the attention sinks that let a stream run forever (StreamingLLM); compress a prompt into learned tokens (gisting); natural language summarization (MemAgent); branching and folding (FoldAgent).</a:t>
            </a:r>
          </a:p>
          <a:p>
            <a:pPr marL="219456" indent="-219456">
              <a:lnSpc>
                <a:spcPct val="110000"/>
              </a:lnSpc>
              <a:spcAft>
                <a:spcPts val="0"/>
              </a:spcAft>
            </a:pPr>
            <a:endParaRPr lang="en-US" sz="1000" b="0">
              <a:solidFill>
                <a:srgbClr val="535A67"/>
              </a:solidFill>
              <a:latin typeface="Helvetica Neue"/>
            </a:endParaRPr>
          </a:p>
          <a:p>
            <a:pPr marL="219456" indent="-219456">
              <a:lnSpc>
                <a:spcPct val="110000"/>
              </a:lnSpc>
              <a:spcAft>
                <a:spcPts val="0"/>
              </a:spcAft>
            </a:pPr>
            <a:r>
              <a:rPr lang="en-US" sz="1000" b="0">
                <a:solidFill>
                  <a:srgbClr val="535A67"/>
                </a:solidFill>
                <a:latin typeface="Helvetica Neue"/>
              </a:rPr>
              <a:t>–  </a:t>
            </a:r>
            <a:r>
              <a:rPr lang="en-US" sz="1000" b="1">
                <a:solidFill>
                  <a:srgbClr val="535A67"/>
                </a:solidFill>
                <a:latin typeface="Helvetica Neue"/>
              </a:rPr>
              <a:t>External memory systems.</a:t>
            </a:r>
            <a:r>
              <a:rPr lang="en-US" sz="1000" b="0">
                <a:solidFill>
                  <a:srgbClr val="535A67"/>
                </a:solidFill>
                <a:latin typeface="Helvetica Neue"/>
              </a:rPr>
              <a:t> Store outside the window what will not fit inside it: paging across core, recall and archival tiers (MemGPT/Letta), a memory stream retrieved by recency, importance and relevance (Generative Agents), or extract-then-reconcile writes into a vector and graph store (Mem0).</a:t>
            </a:r>
          </a:p>
          <a:p>
            <a:pPr marL="219456" indent="-219456">
              <a:lnSpc>
                <a:spcPct val="110000"/>
              </a:lnSpc>
              <a:spcAft>
                <a:spcPts val="0"/>
              </a:spcAft>
            </a:pPr>
            <a:endParaRPr lang="en-US" sz="1000" b="0">
              <a:solidFill>
                <a:srgbClr val="535A67"/>
              </a:solidFill>
              <a:latin typeface="Helvetica Neue"/>
            </a:endParaRPr>
          </a:p>
          <a:p>
            <a:pPr marL="219456" indent="-219456">
              <a:lnSpc>
                <a:spcPct val="110000"/>
              </a:lnSpc>
              <a:spcAft>
                <a:spcPts val="0"/>
              </a:spcAft>
            </a:pPr>
            <a:r>
              <a:rPr lang="en-US" sz="1000" b="0">
                <a:solidFill>
                  <a:srgbClr val="535A67"/>
                </a:solidFill>
                <a:latin typeface="Helvetica Neue"/>
              </a:rPr>
              <a:t>–  </a:t>
            </a:r>
            <a:r>
              <a:rPr lang="en-US" sz="1000" b="1">
                <a:solidFill>
                  <a:srgbClr val="535A67"/>
                </a:solidFill>
                <a:latin typeface="Helvetica Neue"/>
              </a:rPr>
              <a:t>Agent reinforcement learning.</a:t>
            </a:r>
            <a:r>
              <a:rPr lang="en-US" sz="1000" b="0">
                <a:solidFill>
                  <a:srgbClr val="535A67"/>
                </a:solidFill>
                <a:latin typeface="Helvetica Neue"/>
              </a:rPr>
              <a:t> Train the policy (state to next action) on final-outcome reward; intermediate steps need no labels.</a:t>
            </a:r>
          </a:p>
          <a:p>
            <a:pPr marL="219456" indent="-219456">
              <a:lnSpc>
                <a:spcPct val="110000"/>
              </a:lnSpc>
              <a:spcAft>
                <a:spcPts val="0"/>
              </a:spcAft>
            </a:pPr>
            <a:endParaRPr lang="en-US" sz="1000" b="0">
              <a:solidFill>
                <a:srgbClr val="535A67"/>
              </a:solidFill>
              <a:latin typeface="Helvetica Neue"/>
            </a:endParaRPr>
          </a:p>
          <a:p>
            <a:pPr marL="219456" indent="-219456">
              <a:lnSpc>
                <a:spcPct val="110000"/>
              </a:lnSpc>
              <a:spcAft>
                <a:spcPts val="0"/>
              </a:spcAft>
            </a:pPr>
            <a:r>
              <a:rPr lang="en-US" sz="1000" b="0">
                <a:solidFill>
                  <a:srgbClr val="535A67"/>
                </a:solidFill>
                <a:latin typeface="Helvetica Neue"/>
              </a:rPr>
              <a:t>–  </a:t>
            </a:r>
            <a:r>
              <a:rPr lang="en-US" sz="1000" b="1">
                <a:solidFill>
                  <a:srgbClr val="535A67"/>
                </a:solidFill>
                <a:latin typeface="Helvetica Neue"/>
              </a:rPr>
              <a:t>Multi-agent systems.</a:t>
            </a:r>
            <a:r>
              <a:rPr lang="en-US" sz="1000" b="0">
                <a:solidFill>
                  <a:srgbClr val="535A67"/>
                </a:solidFill>
                <a:latin typeface="Helvetica Neue"/>
              </a:rPr>
              <a:t> Run several role-assigned instances that exchange messages (CAMEL, MetaGPT).</a:t>
            </a:r>
          </a:p>
        </p:txBody>
      </p:sp>
      <p:sp>
        <p:nvSpPr>
          <p:cNvPr id="12" name="TextBox 11"/>
          <p:cNvSpPr txBox="1"/>
          <p:nvPr/>
        </p:nvSpPr>
        <p:spPr>
          <a:xfrm>
            <a:off x="7790688" y="2139696"/>
            <a:ext cx="374263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APPLICATIONS</a:t>
            </a:r>
          </a:p>
        </p:txBody>
      </p:sp>
      <p:sp>
        <p:nvSpPr>
          <p:cNvPr id="13" name="Rectangle 12"/>
          <p:cNvSpPr/>
          <p:nvPr/>
        </p:nvSpPr>
        <p:spPr>
          <a:xfrm>
            <a:off x="7790688" y="2395728"/>
            <a:ext cx="37426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90688" y="2560320"/>
            <a:ext cx="3742639" cy="1443152"/>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Coding agents such as Codex</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Deep research: search, read, synthesize</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Assistants that persist across sessions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Workflow and API automation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TOPICS</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Topic 8: Knowledge Updating</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Keep a deployed model current without retraining it from scratch.</a:t>
            </a:r>
          </a:p>
        </p:txBody>
      </p:sp>
      <p:sp>
        <p:nvSpPr>
          <p:cNvPr id="6" name="Rectangle 5"/>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16  /  18</a:t>
            </a:r>
          </a:p>
        </p:txBody>
      </p:sp>
      <p:sp>
        <p:nvSpPr>
          <p:cNvPr id="9" name="TextBox 8"/>
          <p:cNvSpPr txBox="1"/>
          <p:nvPr/>
        </p:nvSpPr>
        <p:spPr>
          <a:xfrm>
            <a:off x="658368" y="2139696"/>
            <a:ext cx="649224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CORE IDEAS</a:t>
            </a:r>
          </a:p>
        </p:txBody>
      </p:sp>
      <p:sp>
        <p:nvSpPr>
          <p:cNvPr id="10" name="Rectangle 9"/>
          <p:cNvSpPr/>
          <p:nvPr/>
        </p:nvSpPr>
        <p:spPr>
          <a:xfrm>
            <a:off x="658368" y="2395728"/>
            <a:ext cx="6492240"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560320"/>
            <a:ext cx="6492240" cy="2255682"/>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Continual learning.</a:t>
            </a:r>
            <a:r>
              <a:rPr lang="en-US" sz="1200" b="0">
                <a:solidFill>
                  <a:srgbClr val="535A67"/>
                </a:solidFill>
                <a:latin typeface="Helvetica Neue"/>
              </a:rPr>
              <a:t> Continual learning: absorb new data without catastrophic forgetting (new data erases old capabilities).</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Model editing.</a:t>
            </a:r>
            <a:r>
              <a:rPr lang="en-US" sz="1200" b="0">
                <a:solidFill>
                  <a:srgbClr val="535A67"/>
                </a:solidFill>
                <a:latin typeface="Helvetica Neue"/>
              </a:rPr>
              <a:t> Locate a fact's layers by causal tracing (corrupt input, restore layers), then edit them (ROME, MEMIT, MEND).</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Knowledge conflict.</a:t>
            </a:r>
            <a:r>
              <a:rPr lang="en-US" sz="1200" b="0">
                <a:solidFill>
                  <a:srgbClr val="535A67"/>
                </a:solidFill>
                <a:latin typeface="Helvetica Neue"/>
              </a:rPr>
              <a:t> When retrieved evidence contradicts stored weights, conflict-aware decoding favours one source at generation time.</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a:t>
            </a:r>
            <a:r>
              <a:rPr lang="en-US" sz="1200" b="1">
                <a:solidFill>
                  <a:srgbClr val="535A67"/>
                </a:solidFill>
                <a:latin typeface="Helvetica Neue"/>
              </a:rPr>
              <a:t>Adapter injection.</a:t>
            </a:r>
            <a:r>
              <a:rPr lang="en-US" sz="1200" b="0">
                <a:solidFill>
                  <a:srgbClr val="535A67"/>
                </a:solidFill>
                <a:latin typeface="Helvetica Neue"/>
              </a:rPr>
              <a:t> Compile a document into a LoRA adapter (small low-rank weights) instead of prompting it (Doc-to-LoRA).</a:t>
            </a:r>
          </a:p>
        </p:txBody>
      </p:sp>
      <p:sp>
        <p:nvSpPr>
          <p:cNvPr id="12" name="TextBox 11"/>
          <p:cNvSpPr txBox="1"/>
          <p:nvPr/>
        </p:nvSpPr>
        <p:spPr>
          <a:xfrm>
            <a:off x="7790688" y="2139696"/>
            <a:ext cx="374263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APPLICATIONS</a:t>
            </a:r>
          </a:p>
        </p:txBody>
      </p:sp>
      <p:sp>
        <p:nvSpPr>
          <p:cNvPr id="13" name="Rectangle 12"/>
          <p:cNvSpPr/>
          <p:nvPr/>
        </p:nvSpPr>
        <p:spPr>
          <a:xfrm>
            <a:off x="7790688" y="2395728"/>
            <a:ext cx="37426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90688" y="2560320"/>
            <a:ext cx="3742639" cy="1036887"/>
          </a:xfrm>
          <a:prstGeom prst="rect">
            <a:avLst/>
          </a:prstGeom>
          <a:noFill/>
        </p:spPr>
        <p:txBody>
          <a:bodyPr wrap="square" lIns="18288" tIns="18288" rIns="18288" bIns="18288">
            <a:spAutoFit/>
          </a:bodyPr>
          <a:lstStyle/>
          <a:p>
            <a:pPr marL="219456" indent="-219456">
              <a:lnSpc>
                <a:spcPct val="110000"/>
              </a:lnSpc>
              <a:spcAft>
                <a:spcPts val="0"/>
              </a:spcAft>
            </a:pPr>
            <a:r>
              <a:rPr lang="en-US" sz="1200" b="0">
                <a:solidFill>
                  <a:srgbClr val="535A67"/>
                </a:solidFill>
                <a:latin typeface="Helvetica Neue"/>
              </a:rPr>
              <a:t>–  Fact correction</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Model maintenance</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Conflict-aware updating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LOGISTICS</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Grading and deadlines</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Three graded components sum to 100 percent. One homework is a literature review.</a:t>
            </a:r>
          </a:p>
        </p:txBody>
      </p:sp>
      <p:sp>
        <p:nvSpPr>
          <p:cNvPr id="6" name="TextBox 5"/>
          <p:cNvSpPr txBox="1">
            <a:spLocks/>
          </p:cNvSpPr>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7" name="TextBox 6"/>
          <p:cNvSpPr txBox="1"/>
          <p:nvPr/>
        </p:nvSpPr>
        <p:spPr>
          <a:xfrm>
            <a:off x="9704527" y="6455664"/>
            <a:ext cx="1828800" cy="167738"/>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17  /  18</a:t>
            </a:r>
          </a:p>
        </p:txBody>
      </p:sp>
      <p:sp>
        <p:nvSpPr>
          <p:cNvPr id="8" name="Rectangle 7"/>
          <p:cNvSpPr>
            <a:spLocks/>
          </p:cNvSpPr>
          <p:nvPr/>
        </p:nvSpPr>
        <p:spPr>
          <a:xfrm>
            <a:off x="658368" y="2066543"/>
            <a:ext cx="10874959"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658368" y="2185415"/>
            <a:ext cx="2690072" cy="183127"/>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50" b="1" i="0" spc="90">
                <a:solidFill>
                  <a:srgbClr val="20232A"/>
                </a:solidFill>
                <a:latin typeface="Helvetica Neue"/>
              </a:rPr>
              <a:t>COMPONENT</a:t>
            </a:r>
          </a:p>
        </p:txBody>
      </p:sp>
      <p:sp>
        <p:nvSpPr>
          <p:cNvPr id="10" name="TextBox 9"/>
          <p:cNvSpPr txBox="1">
            <a:spLocks/>
          </p:cNvSpPr>
          <p:nvPr/>
        </p:nvSpPr>
        <p:spPr>
          <a:xfrm>
            <a:off x="3567896" y="2185415"/>
            <a:ext cx="1879220" cy="283464"/>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50" b="1" i="0" spc="90">
                <a:solidFill>
                  <a:srgbClr val="20232A"/>
                </a:solidFill>
                <a:latin typeface="Helvetica Neue"/>
              </a:rPr>
              <a:t>WEIGHT</a:t>
            </a:r>
          </a:p>
        </p:txBody>
      </p:sp>
      <p:sp>
        <p:nvSpPr>
          <p:cNvPr id="11" name="TextBox 10"/>
          <p:cNvSpPr txBox="1"/>
          <p:nvPr/>
        </p:nvSpPr>
        <p:spPr>
          <a:xfrm>
            <a:off x="5666572" y="2185415"/>
            <a:ext cx="5647298" cy="183127"/>
          </a:xfrm>
          <a:prstGeom prst="rect">
            <a:avLst/>
          </a:prstGeom>
          <a:noFill/>
        </p:spPr>
        <p:txBody>
          <a:bodyPr wrap="square" lIns="18288" tIns="18288" rIns="18288" bIns="18288">
            <a:spAutoFit/>
          </a:bodyPr>
          <a:lstStyle/>
          <a:p>
            <a:pPr algn="l">
              <a:lnSpc>
                <a:spcPct val="100000"/>
              </a:lnSpc>
              <a:spcBef>
                <a:spcPts val="0"/>
              </a:spcBef>
              <a:spcAft>
                <a:spcPts val="0"/>
              </a:spcAft>
            </a:pPr>
            <a:r>
              <a:rPr lang="en-US" sz="950" b="1" i="0" spc="90">
                <a:solidFill>
                  <a:srgbClr val="20232A"/>
                </a:solidFill>
                <a:latin typeface="Helvetica Neue"/>
              </a:rPr>
              <a:t>POLICY / SCOPE</a:t>
            </a:r>
          </a:p>
        </p:txBody>
      </p:sp>
      <p:sp>
        <p:nvSpPr>
          <p:cNvPr id="12" name="Rectangle 11"/>
          <p:cNvSpPr/>
          <p:nvPr/>
        </p:nvSpPr>
        <p:spPr>
          <a:xfrm>
            <a:off x="658368" y="2468879"/>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578608"/>
            <a:ext cx="2690072"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20232A"/>
                </a:solidFill>
                <a:latin typeface="Helvetica Neue"/>
              </a:rPr>
              <a:t>Homework</a:t>
            </a:r>
          </a:p>
        </p:txBody>
      </p:sp>
      <p:sp>
        <p:nvSpPr>
          <p:cNvPr id="14" name="TextBox 13"/>
          <p:cNvSpPr txBox="1"/>
          <p:nvPr/>
        </p:nvSpPr>
        <p:spPr>
          <a:xfrm>
            <a:off x="3567896" y="2578608"/>
            <a:ext cx="1879220"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535A67"/>
                </a:solidFill>
                <a:latin typeface="Helvetica Neue"/>
              </a:rPr>
              <a:t>40%</a:t>
            </a:r>
          </a:p>
        </p:txBody>
      </p:sp>
      <p:sp>
        <p:nvSpPr>
          <p:cNvPr id="15" name="TextBox 14"/>
          <p:cNvSpPr txBox="1"/>
          <p:nvPr/>
        </p:nvSpPr>
        <p:spPr>
          <a:xfrm>
            <a:off x="5666572" y="2578608"/>
            <a:ext cx="5647298"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535A67"/>
                </a:solidFill>
                <a:latin typeface="Helvetica Neue"/>
              </a:rPr>
              <a:t>Five assignments; dates announced separately</a:t>
            </a:r>
          </a:p>
        </p:txBody>
      </p:sp>
      <p:sp>
        <p:nvSpPr>
          <p:cNvPr id="16" name="Rectangle 15"/>
          <p:cNvSpPr/>
          <p:nvPr/>
        </p:nvSpPr>
        <p:spPr>
          <a:xfrm>
            <a:off x="658368" y="3182111"/>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3291839"/>
            <a:ext cx="2690072"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20232A"/>
                </a:solidFill>
                <a:latin typeface="Helvetica Neue"/>
              </a:rPr>
              <a:t>- Literature review report</a:t>
            </a:r>
          </a:p>
        </p:txBody>
      </p:sp>
      <p:sp>
        <p:nvSpPr>
          <p:cNvPr id="18" name="TextBox 17"/>
          <p:cNvSpPr txBox="1"/>
          <p:nvPr/>
        </p:nvSpPr>
        <p:spPr>
          <a:xfrm>
            <a:off x="3567896" y="3291839"/>
            <a:ext cx="1879220"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535A67"/>
                </a:solidFill>
                <a:latin typeface="Helvetica Neue"/>
              </a:rPr>
              <a:t>-</a:t>
            </a:r>
          </a:p>
        </p:txBody>
      </p:sp>
      <p:sp>
        <p:nvSpPr>
          <p:cNvPr id="19" name="TextBox 18"/>
          <p:cNvSpPr txBox="1"/>
          <p:nvPr/>
        </p:nvSpPr>
        <p:spPr>
          <a:xfrm>
            <a:off x="5666572" y="3291839"/>
            <a:ext cx="5647298"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535A67"/>
                </a:solidFill>
                <a:latin typeface="Helvetica Neue"/>
              </a:rPr>
              <a:t>One assignment is a short written review of a subarea: what has been tried, what is settled, what is still open</a:t>
            </a:r>
          </a:p>
        </p:txBody>
      </p:sp>
      <p:sp>
        <p:nvSpPr>
          <p:cNvPr id="20" name="Rectangle 19"/>
          <p:cNvSpPr/>
          <p:nvPr/>
        </p:nvSpPr>
        <p:spPr>
          <a:xfrm>
            <a:off x="658368" y="389534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4005072"/>
            <a:ext cx="2690072"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20232A"/>
                </a:solidFill>
                <a:latin typeface="Helvetica Neue"/>
              </a:rPr>
              <a:t>Paper presentation</a:t>
            </a:r>
          </a:p>
        </p:txBody>
      </p:sp>
      <p:sp>
        <p:nvSpPr>
          <p:cNvPr id="22" name="TextBox 21"/>
          <p:cNvSpPr txBox="1"/>
          <p:nvPr/>
        </p:nvSpPr>
        <p:spPr>
          <a:xfrm>
            <a:off x="3567896" y="4005072"/>
            <a:ext cx="1879220"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535A67"/>
                </a:solidFill>
                <a:latin typeface="Helvetica Neue"/>
              </a:rPr>
              <a:t>10%</a:t>
            </a:r>
          </a:p>
        </p:txBody>
      </p:sp>
      <p:sp>
        <p:nvSpPr>
          <p:cNvPr id="23" name="TextBox 22"/>
          <p:cNvSpPr txBox="1"/>
          <p:nvPr/>
        </p:nvSpPr>
        <p:spPr>
          <a:xfrm>
            <a:off x="5666572" y="4005072"/>
            <a:ext cx="5647298"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535A67"/>
                </a:solidFill>
                <a:latin typeface="Helvetica Neue"/>
              </a:rPr>
              <a:t>Student paper seminar presentation</a:t>
            </a:r>
          </a:p>
        </p:txBody>
      </p:sp>
      <p:sp>
        <p:nvSpPr>
          <p:cNvPr id="24" name="Rectangle 23"/>
          <p:cNvSpPr/>
          <p:nvPr/>
        </p:nvSpPr>
        <p:spPr>
          <a:xfrm>
            <a:off x="658368" y="4608576"/>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 y="4718303"/>
            <a:ext cx="2690072"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20232A"/>
                </a:solidFill>
                <a:latin typeface="Helvetica Neue"/>
              </a:rPr>
              <a:t>Course project</a:t>
            </a:r>
          </a:p>
        </p:txBody>
      </p:sp>
      <p:sp>
        <p:nvSpPr>
          <p:cNvPr id="26" name="TextBox 25"/>
          <p:cNvSpPr txBox="1"/>
          <p:nvPr/>
        </p:nvSpPr>
        <p:spPr>
          <a:xfrm>
            <a:off x="3567896" y="4718303"/>
            <a:ext cx="1879220"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535A67"/>
                </a:solidFill>
                <a:latin typeface="Helvetica Neue"/>
              </a:rPr>
              <a:t>50%</a:t>
            </a:r>
          </a:p>
        </p:txBody>
      </p:sp>
      <p:sp>
        <p:nvSpPr>
          <p:cNvPr id="27" name="TextBox 26"/>
          <p:cNvSpPr txBox="1"/>
          <p:nvPr/>
        </p:nvSpPr>
        <p:spPr>
          <a:xfrm>
            <a:off x="5666572" y="4718303"/>
            <a:ext cx="5647298"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535A67"/>
                </a:solidFill>
                <a:latin typeface="Helvetica Neue"/>
              </a:rPr>
              <a:t>Research-oriented or system implementation track</a:t>
            </a:r>
          </a:p>
        </p:txBody>
      </p:sp>
      <p:sp>
        <p:nvSpPr>
          <p:cNvPr id="28" name="Rectangle 27"/>
          <p:cNvSpPr/>
          <p:nvPr/>
        </p:nvSpPr>
        <p:spPr>
          <a:xfrm>
            <a:off x="658368" y="5321807"/>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5431536"/>
            <a:ext cx="2690072"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20232A"/>
                </a:solidFill>
                <a:latin typeface="Helvetica Neue"/>
              </a:rPr>
              <a:t>Late work</a:t>
            </a:r>
          </a:p>
        </p:txBody>
      </p:sp>
      <p:sp>
        <p:nvSpPr>
          <p:cNvPr id="30" name="TextBox 29"/>
          <p:cNvSpPr txBox="1"/>
          <p:nvPr/>
        </p:nvSpPr>
        <p:spPr>
          <a:xfrm>
            <a:off x="3567896" y="5431536"/>
            <a:ext cx="1879220"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535A67"/>
                </a:solidFill>
                <a:latin typeface="Helvetica Neue"/>
              </a:rPr>
              <a:t>-</a:t>
            </a:r>
          </a:p>
        </p:txBody>
      </p:sp>
      <p:sp>
        <p:nvSpPr>
          <p:cNvPr id="31" name="TextBox 30"/>
          <p:cNvSpPr txBox="1"/>
          <p:nvPr/>
        </p:nvSpPr>
        <p:spPr>
          <a:xfrm>
            <a:off x="5666572" y="5431536"/>
            <a:ext cx="5647298" cy="548640"/>
          </a:xfrm>
          <a:prstGeom prst="rect">
            <a:avLst/>
          </a:prstGeom>
          <a:noFill/>
        </p:spPr>
        <p:txBody>
          <a:bodyPr wrap="square" lIns="18288" tIns="18288" rIns="18288" bIns="18288" anchor="t">
            <a:spAutoFit/>
          </a:bodyPr>
          <a:lstStyle/>
          <a:p>
            <a:pPr algn="l">
              <a:lnSpc>
                <a:spcPct val="106000"/>
              </a:lnSpc>
              <a:spcBef>
                <a:spcPts val="0"/>
              </a:spcBef>
              <a:spcAft>
                <a:spcPts val="0"/>
              </a:spcAft>
            </a:pPr>
            <a:r>
              <a:rPr sz="1100" b="0" i="0">
                <a:solidFill>
                  <a:srgbClr val="535A67"/>
                </a:solidFill>
                <a:latin typeface="Helvetica Neue"/>
              </a:rPr>
              <a:t>Homework and project: 20 points off per day late; none accepted after 4 days</a:t>
            </a:r>
          </a:p>
        </p:txBody>
      </p:sp>
      <p:sp>
        <p:nvSpPr>
          <p:cNvPr id="32" name="Rectangle 31"/>
          <p:cNvSpPr/>
          <p:nvPr/>
        </p:nvSpPr>
        <p:spPr>
          <a:xfrm>
            <a:off x="658368" y="6035040"/>
            <a:ext cx="10874959"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AF9F7"/>
        </a:solidFill>
        <a:effectLst/>
      </p:bgPr>
    </p:bg>
    <p:spTree>
      <p:nvGrpSpPr>
        <p:cNvPr id="1" name=""/>
        <p:cNvGrpSpPr/>
        <p:nvPr/>
      </p:nvGrpSpPr>
      <p:grpSpPr>
        <a:xfrm>
          <a:off x="0" y="0"/>
          <a:ext cx="0" cy="0"/>
          <a:chOff x="0" y="0"/>
          <a:chExt cx="0" cy="0"/>
        </a:xfrm>
      </p:grpSpPr>
      <p:sp>
        <p:nvSpPr>
          <p:cNvPr id="2" name="Rectangle 1"/>
          <p:cNvSpPr>
            <a:spLocks/>
          </p:cNvSpPr>
          <p:nvPr/>
        </p:nvSpPr>
        <p:spPr>
          <a:xfrm>
            <a:off x="658368" y="402336"/>
            <a:ext cx="310896" cy="27432"/>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58368" y="566928"/>
            <a:ext cx="5486400"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EB6834"/>
                </a:solidFill>
                <a:latin typeface="Helvetica Neue"/>
              </a:rPr>
              <a:t>COURSE PROJECT</a:t>
            </a:r>
          </a:p>
        </p:txBody>
      </p:sp>
      <p:sp>
        <p:nvSpPr>
          <p:cNvPr id="4" name="TextBox 3"/>
          <p:cNvSpPr txBox="1"/>
          <p:nvPr/>
        </p:nvSpPr>
        <p:spPr>
          <a:xfrm>
            <a:off x="640080" y="859536"/>
            <a:ext cx="10874959" cy="43704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2600" b="1" i="0">
                <a:solidFill>
                  <a:srgbClr val="20232A"/>
                </a:solidFill>
                <a:latin typeface="Helvetica Neue"/>
              </a:rPr>
              <a:t>Final project</a:t>
            </a:r>
          </a:p>
        </p:txBody>
      </p:sp>
      <p:sp>
        <p:nvSpPr>
          <p:cNvPr id="5" name="TextBox 4"/>
          <p:cNvSpPr txBox="1">
            <a:spLocks/>
          </p:cNvSpPr>
          <p:nvPr/>
        </p:nvSpPr>
        <p:spPr>
          <a:xfrm>
            <a:off x="658368" y="1371600"/>
            <a:ext cx="10509199" cy="214757"/>
          </a:xfrm>
          <a:prstGeom prst="rect">
            <a:avLst/>
          </a:prstGeom>
          <a:noFill/>
        </p:spPr>
        <p:txBody>
          <a:bodyPr wrap="square" lIns="18288" tIns="18288" rIns="18288" bIns="18288" anchor="t">
            <a:spAutoFit/>
          </a:bodyPr>
          <a:lstStyle/>
          <a:p>
            <a:pPr algn="l">
              <a:lnSpc>
                <a:spcPct val="110000"/>
              </a:lnSpc>
              <a:spcBef>
                <a:spcPts val="0"/>
              </a:spcBef>
              <a:spcAft>
                <a:spcPts val="0"/>
              </a:spcAft>
            </a:pPr>
            <a:r>
              <a:rPr lang="en-US" sz="1150" b="0" i="0">
                <a:solidFill>
                  <a:srgbClr val="535A67"/>
                </a:solidFill>
                <a:latin typeface="Helvetica Neue"/>
              </a:rPr>
              <a:t>Both tracks require a working implementation and credible evidence.</a:t>
            </a:r>
          </a:p>
        </p:txBody>
      </p:sp>
      <p:sp>
        <p:nvSpPr>
          <p:cNvPr id="6" name="Rectangle 5"/>
          <p:cNvSpPr>
            <a:spLocks/>
          </p:cNvSpPr>
          <p:nvPr/>
        </p:nvSpPr>
        <p:spPr>
          <a:xfrm>
            <a:off x="658368" y="1883664"/>
            <a:ext cx="1087495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p:cNvSpPr txBox="1"/>
          <p:nvPr/>
        </p:nvSpPr>
        <p:spPr>
          <a:xfrm>
            <a:off x="658368" y="6455664"/>
            <a:ext cx="5486400" cy="164592"/>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800" b="1" i="0" spc="90">
                <a:solidFill>
                  <a:srgbClr val="7C828C"/>
                </a:solidFill>
                <a:latin typeface="Helvetica Neue"/>
              </a:rPr>
              <a:t>CAP 6938  ·  AI KNOWLEDGE SYSTEMS</a:t>
            </a:r>
          </a:p>
        </p:txBody>
      </p:sp>
      <p:sp>
        <p:nvSpPr>
          <p:cNvPr id="8" name="TextBox 7"/>
          <p:cNvSpPr txBox="1">
            <a:spLocks/>
          </p:cNvSpPr>
          <p:nvPr/>
        </p:nvSpPr>
        <p:spPr>
          <a:xfrm>
            <a:off x="9704527" y="6455664"/>
            <a:ext cx="1828800" cy="164592"/>
          </a:xfrm>
          <a:prstGeom prst="rect">
            <a:avLst/>
          </a:prstGeom>
          <a:noFill/>
        </p:spPr>
        <p:txBody>
          <a:bodyPr wrap="square" lIns="18288" tIns="18288" rIns="18288" bIns="18288" anchor="t">
            <a:spAutoFit/>
          </a:bodyPr>
          <a:lstStyle/>
          <a:p>
            <a:pPr algn="r">
              <a:lnSpc>
                <a:spcPct val="100000"/>
              </a:lnSpc>
              <a:spcBef>
                <a:spcPts val="0"/>
              </a:spcBef>
              <a:spcAft>
                <a:spcPts val="0"/>
              </a:spcAft>
            </a:pPr>
            <a:r>
              <a:rPr lang="en-US" sz="850" b="1" i="0" spc="90">
                <a:solidFill>
                  <a:srgbClr val="20232A"/>
                </a:solidFill>
                <a:latin typeface="Helvetica Neue"/>
              </a:rPr>
              <a:t>18  /  18</a:t>
            </a:r>
          </a:p>
        </p:txBody>
      </p:sp>
      <p:sp>
        <p:nvSpPr>
          <p:cNvPr id="9" name="TextBox 8"/>
          <p:cNvSpPr txBox="1"/>
          <p:nvPr/>
        </p:nvSpPr>
        <p:spPr>
          <a:xfrm>
            <a:off x="658368" y="2139696"/>
            <a:ext cx="5117439" cy="175433"/>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RESEARCH-ORIENTED TRACK</a:t>
            </a:r>
          </a:p>
        </p:txBody>
      </p:sp>
      <p:sp>
        <p:nvSpPr>
          <p:cNvPr id="10" name="Rectangle 9"/>
          <p:cNvSpPr>
            <a:spLocks/>
          </p:cNvSpPr>
          <p:nvPr/>
        </p:nvSpPr>
        <p:spPr>
          <a:xfrm>
            <a:off x="658368" y="2395728"/>
            <a:ext cx="51174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658368" y="2560320"/>
            <a:ext cx="5117439" cy="1646285"/>
          </a:xfrm>
          <a:prstGeom prst="rect">
            <a:avLst/>
          </a:prstGeom>
          <a:noFill/>
        </p:spPr>
        <p:txBody>
          <a:bodyPr wrap="square" lIns="18288" tIns="18288" rIns="18288" bIns="18288" anchor="t">
            <a:spAutoFit/>
          </a:bodyPr>
          <a:lstStyle/>
          <a:p>
            <a:pPr marL="219456" indent="-219456">
              <a:lnSpc>
                <a:spcPct val="110000"/>
              </a:lnSpc>
              <a:spcAft>
                <a:spcPts val="0"/>
              </a:spcAft>
            </a:pPr>
            <a:r>
              <a:rPr lang="en-US" sz="1200" b="0">
                <a:solidFill>
                  <a:srgbClr val="535A67"/>
                </a:solidFill>
                <a:latin typeface="Helvetica Neue"/>
              </a:rPr>
              <a:t>–  Propose one specific improvement to a method from Topics 1-8, approved at the proposal meeting.</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Compare against the method you improve on, changing one variable at a time.</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Include an ablation (remove one component at a time) or an error analysis, plus limitations.</a:t>
            </a:r>
          </a:p>
        </p:txBody>
      </p:sp>
      <p:sp>
        <p:nvSpPr>
          <p:cNvPr id="12" name="TextBox 11"/>
          <p:cNvSpPr txBox="1">
            <a:spLocks/>
          </p:cNvSpPr>
          <p:nvPr/>
        </p:nvSpPr>
        <p:spPr>
          <a:xfrm>
            <a:off x="6415887" y="2139696"/>
            <a:ext cx="5117439" cy="201168"/>
          </a:xfrm>
          <a:prstGeom prst="rect">
            <a:avLst/>
          </a:prstGeom>
          <a:noFill/>
        </p:spPr>
        <p:txBody>
          <a:bodyPr wrap="square" lIns="18288" tIns="18288" rIns="18288" bIns="18288" anchor="t">
            <a:spAutoFit/>
          </a:bodyPr>
          <a:lstStyle/>
          <a:p>
            <a:pPr algn="l">
              <a:lnSpc>
                <a:spcPct val="100000"/>
              </a:lnSpc>
              <a:spcBef>
                <a:spcPts val="0"/>
              </a:spcBef>
              <a:spcAft>
                <a:spcPts val="0"/>
              </a:spcAft>
            </a:pPr>
            <a:r>
              <a:rPr lang="en-US" sz="900" b="1" i="0" spc="90">
                <a:solidFill>
                  <a:srgbClr val="7C828C"/>
                </a:solidFill>
                <a:latin typeface="Helvetica Neue"/>
              </a:rPr>
              <a:t>SYSTEM IMPLEMENTATION TRACK</a:t>
            </a:r>
          </a:p>
        </p:txBody>
      </p:sp>
      <p:sp>
        <p:nvSpPr>
          <p:cNvPr id="13" name="Rectangle 12"/>
          <p:cNvSpPr>
            <a:spLocks/>
          </p:cNvSpPr>
          <p:nvPr/>
        </p:nvSpPr>
        <p:spPr>
          <a:xfrm>
            <a:off x="6415887" y="2395728"/>
            <a:ext cx="5117439" cy="9144"/>
          </a:xfrm>
          <a:prstGeom prst="rect">
            <a:avLst/>
          </a:prstGeom>
          <a:solidFill>
            <a:srgbClr val="DF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p:cNvSpPr txBox="1"/>
          <p:nvPr/>
        </p:nvSpPr>
        <p:spPr>
          <a:xfrm>
            <a:off x="6415887" y="2560320"/>
            <a:ext cx="5117439" cy="1443152"/>
          </a:xfrm>
          <a:prstGeom prst="rect">
            <a:avLst/>
          </a:prstGeom>
          <a:noFill/>
        </p:spPr>
        <p:txBody>
          <a:bodyPr wrap="square" lIns="18288" tIns="18288" rIns="18288" bIns="18288" anchor="t">
            <a:spAutoFit/>
          </a:bodyPr>
          <a:lstStyle/>
          <a:p>
            <a:pPr marL="219456" indent="-219456">
              <a:lnSpc>
                <a:spcPct val="110000"/>
              </a:lnSpc>
              <a:spcAft>
                <a:spcPts val="0"/>
              </a:spcAft>
            </a:pPr>
            <a:r>
              <a:rPr lang="en-US" sz="1200" b="0">
                <a:solidFill>
                  <a:srgbClr val="535A67"/>
                </a:solidFill>
                <a:latin typeface="Helvetica Neue"/>
              </a:rPr>
              <a:t>–  Build an AI agent or recommendation system for a specific task.</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One narrow path that runs end to end, with a measurement at each component.</a:t>
            </a:r>
          </a:p>
          <a:p>
            <a:pPr marL="219456" indent="-219456">
              <a:lnSpc>
                <a:spcPct val="110000"/>
              </a:lnSpc>
              <a:spcAft>
                <a:spcPts val="0"/>
              </a:spcAft>
            </a:pPr>
            <a:endParaRPr lang="en-US" sz="1200" b="0">
              <a:solidFill>
                <a:srgbClr val="535A67"/>
              </a:solidFill>
              <a:latin typeface="Helvetica Neue"/>
            </a:endParaRPr>
          </a:p>
          <a:p>
            <a:pPr marL="219456" indent="-219456">
              <a:lnSpc>
                <a:spcPct val="110000"/>
              </a:lnSpc>
              <a:spcAft>
                <a:spcPts val="0"/>
              </a:spcAft>
            </a:pPr>
            <a:r>
              <a:rPr lang="en-US" sz="1200" b="0">
                <a:solidFill>
                  <a:srgbClr val="535A67"/>
                </a:solidFill>
                <a:latin typeface="Helvetica Neue"/>
              </a:rPr>
              <a:t>–  Evaluate end-to-end behavior, cost, reliability, and representative failures.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ED235AC-B2B5-5072-094F-ACD00149A01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49BE1B-5475-6618-1E1D-67CBBACB12F9}"/>
              </a:ext>
            </a:extLst>
          </p:cNvPr>
          <p:cNvSpPr txBox="1"/>
          <p:nvPr/>
        </p:nvSpPr>
        <p:spPr>
          <a:xfrm>
            <a:off x="822960" y="475488"/>
            <a:ext cx="5486400" cy="175433"/>
          </a:xfrm>
          <a:prstGeom prst="rect">
            <a:avLst/>
          </a:prstGeom>
          <a:noFill/>
        </p:spPr>
        <p:txBody>
          <a:bodyPr wrap="square" lIns="18288" tIns="18288" rIns="18288" bIns="18288" anchor="t">
            <a:spAutoFit/>
          </a:bodyPr>
          <a:lstStyle/>
          <a:p>
            <a:r>
              <a:rPr lang="en-US" sz="900" b="1" spc="90">
                <a:solidFill>
                  <a:srgbClr val="33526B"/>
                </a:solidFill>
                <a:latin typeface="Arial"/>
              </a:rPr>
              <a:t>GET IN-DEPTH</a:t>
            </a:r>
            <a:endParaRPr lang="en-US"/>
          </a:p>
        </p:txBody>
      </p:sp>
      <p:sp>
        <p:nvSpPr>
          <p:cNvPr id="3" name="TextBox 2">
            <a:extLst>
              <a:ext uri="{FF2B5EF4-FFF2-40B4-BE49-F238E27FC236}">
                <a16:creationId xmlns:a16="http://schemas.microsoft.com/office/drawing/2014/main" id="{BCA92F48-3EA5-74E4-B718-88B84F30D992}"/>
              </a:ext>
            </a:extLst>
          </p:cNvPr>
          <p:cNvSpPr txBox="1"/>
          <p:nvPr/>
        </p:nvSpPr>
        <p:spPr>
          <a:xfrm>
            <a:off x="804672" y="731520"/>
            <a:ext cx="10545775" cy="498598"/>
          </a:xfrm>
          <a:prstGeom prst="rect">
            <a:avLst/>
          </a:prstGeom>
          <a:noFill/>
        </p:spPr>
        <p:txBody>
          <a:bodyPr wrap="square" lIns="18288" tIns="18288" rIns="18288" bIns="18288" anchor="t">
            <a:spAutoFit/>
          </a:bodyPr>
          <a:lstStyle/>
          <a:p>
            <a:r>
              <a:rPr lang="en-US" sz="3000" b="1">
                <a:solidFill>
                  <a:srgbClr val="111111"/>
                </a:solidFill>
                <a:latin typeface="Arial"/>
              </a:rPr>
              <a:t>Assignment </a:t>
            </a:r>
            <a:endParaRPr lang="en-US"/>
          </a:p>
        </p:txBody>
      </p:sp>
      <p:sp>
        <p:nvSpPr>
          <p:cNvPr id="4" name="TextBox 3">
            <a:extLst>
              <a:ext uri="{FF2B5EF4-FFF2-40B4-BE49-F238E27FC236}">
                <a16:creationId xmlns:a16="http://schemas.microsoft.com/office/drawing/2014/main" id="{45249686-7171-F29D-97E5-B9C55444FF96}"/>
              </a:ext>
            </a:extLst>
          </p:cNvPr>
          <p:cNvSpPr txBox="1"/>
          <p:nvPr/>
        </p:nvSpPr>
        <p:spPr>
          <a:xfrm>
            <a:off x="822960" y="1316736"/>
            <a:ext cx="10180015" cy="260649"/>
          </a:xfrm>
          <a:prstGeom prst="rect">
            <a:avLst/>
          </a:prstGeom>
          <a:noFill/>
        </p:spPr>
        <p:txBody>
          <a:bodyPr wrap="square" lIns="18288" tIns="18288" rIns="18288" bIns="18288" anchor="t">
            <a:spAutoFit/>
          </a:bodyPr>
          <a:lstStyle/>
          <a:p>
            <a:pPr>
              <a:lnSpc>
                <a:spcPct val="110000"/>
              </a:lnSpc>
            </a:pPr>
            <a:r>
              <a:rPr lang="en-US" sz="1400">
                <a:solidFill>
                  <a:srgbClr val="6B6B6B"/>
                </a:solidFill>
                <a:latin typeface="Arial"/>
              </a:rPr>
              <a:t>Topic literature review</a:t>
            </a:r>
            <a:endParaRPr lang="en-US"/>
          </a:p>
        </p:txBody>
      </p:sp>
      <p:sp>
        <p:nvSpPr>
          <p:cNvPr id="5" name="Rectangle 4">
            <a:extLst>
              <a:ext uri="{FF2B5EF4-FFF2-40B4-BE49-F238E27FC236}">
                <a16:creationId xmlns:a16="http://schemas.microsoft.com/office/drawing/2014/main" id="{6FED7BB0-406D-511D-78ED-6F359E7DECA3}"/>
              </a:ext>
            </a:extLst>
          </p:cNvPr>
          <p:cNvSpPr/>
          <p:nvPr/>
        </p:nvSpPr>
        <p:spPr>
          <a:xfrm>
            <a:off x="822960" y="1773936"/>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7B63F58F-16E7-6E34-DCEE-E9AAFA6E9680}"/>
              </a:ext>
            </a:extLst>
          </p:cNvPr>
          <p:cNvSpPr/>
          <p:nvPr/>
        </p:nvSpPr>
        <p:spPr>
          <a:xfrm>
            <a:off x="822960" y="6382512"/>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672772B-62CF-3313-A736-19F756B235A3}"/>
              </a:ext>
            </a:extLst>
          </p:cNvPr>
          <p:cNvSpPr txBox="1"/>
          <p:nvPr/>
        </p:nvSpPr>
        <p:spPr>
          <a:xfrm>
            <a:off x="822960" y="6455664"/>
            <a:ext cx="4572000" cy="182880"/>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850" b="0" i="0">
                <a:solidFill>
                  <a:srgbClr val="9B9B9B"/>
                </a:solidFill>
                <a:latin typeface="Arial"/>
              </a:rPr>
              <a:t>CAP 6938  ·  AI Knowledge Systems</a:t>
            </a:r>
          </a:p>
        </p:txBody>
      </p:sp>
      <p:sp>
        <p:nvSpPr>
          <p:cNvPr id="8" name="TextBox 7">
            <a:extLst>
              <a:ext uri="{FF2B5EF4-FFF2-40B4-BE49-F238E27FC236}">
                <a16:creationId xmlns:a16="http://schemas.microsoft.com/office/drawing/2014/main" id="{5836B604-531B-ABAC-D5C8-09E1645DDBE8}"/>
              </a:ext>
            </a:extLst>
          </p:cNvPr>
          <p:cNvSpPr txBox="1"/>
          <p:nvPr/>
        </p:nvSpPr>
        <p:spPr>
          <a:xfrm>
            <a:off x="7711135" y="6455664"/>
            <a:ext cx="3657600" cy="182880"/>
          </a:xfrm>
          <a:prstGeom prst="rect">
            <a:avLst/>
          </a:prstGeom>
          <a:noFill/>
        </p:spPr>
        <p:txBody>
          <a:bodyPr wrap="square" lIns="18288" tIns="18288" rIns="18288" bIns="18288" anchor="t">
            <a:spAutoFit/>
          </a:bodyPr>
          <a:lstStyle/>
          <a:p>
            <a:pPr algn="r">
              <a:lnSpc>
                <a:spcPct val="100000"/>
              </a:lnSpc>
              <a:spcBef>
                <a:spcPts val="0"/>
              </a:spcBef>
              <a:spcAft>
                <a:spcPts val="0"/>
              </a:spcAft>
            </a:pPr>
            <a:r>
              <a:rPr sz="850" b="0" i="0">
                <a:solidFill>
                  <a:srgbClr val="9B9B9B"/>
                </a:solidFill>
                <a:latin typeface="Arial"/>
              </a:rPr>
              <a:t>Lecture 01  ·  17</a:t>
            </a:r>
          </a:p>
        </p:txBody>
      </p:sp>
      <p:sp>
        <p:nvSpPr>
          <p:cNvPr id="9" name="TextBox 8">
            <a:extLst>
              <a:ext uri="{FF2B5EF4-FFF2-40B4-BE49-F238E27FC236}">
                <a16:creationId xmlns:a16="http://schemas.microsoft.com/office/drawing/2014/main" id="{E7A01B91-1485-EBAB-26BC-BF179AA65E7C}"/>
              </a:ext>
            </a:extLst>
          </p:cNvPr>
          <p:cNvSpPr txBox="1"/>
          <p:nvPr/>
        </p:nvSpPr>
        <p:spPr>
          <a:xfrm>
            <a:off x="822960" y="2029967"/>
            <a:ext cx="10545775" cy="175433"/>
          </a:xfrm>
          <a:prstGeom prst="rect">
            <a:avLst/>
          </a:prstGeom>
          <a:noFill/>
        </p:spPr>
        <p:txBody>
          <a:bodyPr wrap="square" lIns="18288" tIns="18288" rIns="18288" bIns="18288" anchor="t">
            <a:spAutoFit/>
          </a:bodyPr>
          <a:lstStyle/>
          <a:p>
            <a:r>
              <a:rPr lang="en-US" sz="900" b="1" spc="90">
                <a:solidFill>
                  <a:srgbClr val="33526B"/>
                </a:solidFill>
                <a:latin typeface="Arial"/>
              </a:rPr>
              <a:t>LITERATURE REVIEW</a:t>
            </a:r>
            <a:endParaRPr lang="en-US"/>
          </a:p>
        </p:txBody>
      </p:sp>
      <p:sp>
        <p:nvSpPr>
          <p:cNvPr id="10" name="Rectangle 9">
            <a:extLst>
              <a:ext uri="{FF2B5EF4-FFF2-40B4-BE49-F238E27FC236}">
                <a16:creationId xmlns:a16="http://schemas.microsoft.com/office/drawing/2014/main" id="{D6F7737A-C789-F3A5-2433-9F024F96D934}"/>
              </a:ext>
            </a:extLst>
          </p:cNvPr>
          <p:cNvSpPr/>
          <p:nvPr/>
        </p:nvSpPr>
        <p:spPr>
          <a:xfrm>
            <a:off x="822960" y="2286000"/>
            <a:ext cx="10545775" cy="7315"/>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D86DC18-720E-54AF-03FC-21EE596F0110}"/>
              </a:ext>
            </a:extLst>
          </p:cNvPr>
          <p:cNvSpPr txBox="1"/>
          <p:nvPr/>
        </p:nvSpPr>
        <p:spPr>
          <a:xfrm>
            <a:off x="822960" y="2450591"/>
            <a:ext cx="10545775" cy="1536831"/>
          </a:xfrm>
          <a:prstGeom prst="rect">
            <a:avLst/>
          </a:prstGeom>
          <a:noFill/>
        </p:spPr>
        <p:txBody>
          <a:bodyPr wrap="square" lIns="18288" tIns="18288" rIns="18288" bIns="18288" anchor="t">
            <a:spAutoFit/>
          </a:bodyPr>
          <a:lstStyle/>
          <a:p>
            <a:pPr marL="219075" indent="-219075">
              <a:lnSpc>
                <a:spcPct val="110000"/>
              </a:lnSpc>
            </a:pPr>
            <a:r>
              <a:rPr sz="1800" b="0">
                <a:solidFill>
                  <a:srgbClr val="1F1F1F"/>
                </a:solidFill>
                <a:latin typeface="Arial"/>
              </a:rPr>
              <a:t>– </a:t>
            </a:r>
            <a:r>
              <a:rPr lang="en-US">
                <a:solidFill>
                  <a:srgbClr val="1F1F1F"/>
                </a:solidFill>
                <a:latin typeface="Arial"/>
              </a:rPr>
              <a:t>Comprehensive literature review of the latest Retrieval-Augmented Generation (RAG)</a:t>
            </a:r>
          </a:p>
          <a:p>
            <a:pPr marL="219075" indent="-219075">
              <a:lnSpc>
                <a:spcPct val="110000"/>
              </a:lnSpc>
            </a:pPr>
            <a:endParaRPr lang="en-US" dirty="0">
              <a:solidFill>
                <a:srgbClr val="1F1F1F"/>
              </a:solidFill>
              <a:latin typeface="Arial"/>
              <a:cs typeface="Arial"/>
            </a:endParaRPr>
          </a:p>
          <a:p>
            <a:pPr marL="219075" indent="-219075">
              <a:lnSpc>
                <a:spcPct val="110000"/>
              </a:lnSpc>
            </a:pPr>
            <a:r>
              <a:rPr lang="en-US">
                <a:solidFill>
                  <a:srgbClr val="1F1F1F"/>
                </a:solidFill>
                <a:latin typeface="Arial"/>
                <a:cs typeface="Arial"/>
              </a:rPr>
              <a:t>– Max 2 page PDF to be submitted</a:t>
            </a:r>
          </a:p>
          <a:p>
            <a:pPr marL="219075" indent="-219075">
              <a:lnSpc>
                <a:spcPct val="110000"/>
              </a:lnSpc>
            </a:pPr>
            <a:endParaRPr lang="en-US" dirty="0">
              <a:solidFill>
                <a:srgbClr val="1F1F1F"/>
              </a:solidFill>
              <a:latin typeface="Arial"/>
              <a:ea typeface="Calibri"/>
              <a:cs typeface="Arial"/>
            </a:endParaRPr>
          </a:p>
          <a:p>
            <a:pPr marL="219075" indent="-219075">
              <a:lnSpc>
                <a:spcPct val="110000"/>
              </a:lnSpc>
            </a:pPr>
            <a:r>
              <a:rPr lang="en-US">
                <a:solidFill>
                  <a:srgbClr val="1F1F1F"/>
                </a:solidFill>
                <a:latin typeface="Arial"/>
                <a:ea typeface="Calibri"/>
                <a:cs typeface="Arial"/>
              </a:rPr>
              <a:t>– Deadline: before start of next week's class (Sep 1)</a:t>
            </a:r>
            <a:endParaRPr lang="en-US"/>
          </a:p>
        </p:txBody>
      </p:sp>
    </p:spTree>
    <p:extLst>
      <p:ext uri="{BB962C8B-B14F-4D97-AF65-F5344CB8AC3E}">
        <p14:creationId xmlns:p14="http://schemas.microsoft.com/office/powerpoint/2010/main" val="1546064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24</Slides>
  <Notes>23</Notes>
  <HiddenSlides>2</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01: Course Introduction</dc:title>
  <dc:subject>CAP 6938: AI Knowledge Systems</dc:subject>
  <dc:creator>Ser Nam Lim</dc:creator>
  <cp:keywords/>
  <dc:description>Generated for Fall 2026; native editable PowerPoint shapes.</dc:description>
  <cp:lastModifiedBy>Steve Canny</cp:lastModifiedBy>
  <cp:revision>154</cp:revision>
  <dcterms:created xsi:type="dcterms:W3CDTF">2013-01-27T09:14:16Z</dcterms:created>
  <dcterms:modified xsi:type="dcterms:W3CDTF">2026-08-25T16:02:32Z</dcterms:modified>
  <cp:category/>
</cp:coreProperties>
</file>